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short, sharp fable from Aesop. Read with rhythm — the poem is a treat.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is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other Aesop fables students may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Pause: ask 'how could a fox get a cheese from a high branch?'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trick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moral clearly; ask for modern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each word in a sentence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contrast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punctuation.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rhyming pairs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whip-round.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announce the write-your-own-fable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Raven and the Fox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English  ·  The Raven and the Fox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Retell the fable in your own words.</a:t>
            </a:r>
          </a:p>
          <a:p>
            <a:pPr/>
            <a:r>
              <a:rPr sz="2200"/>
              <a:t>Explain how the fox tricks the raven.</a:t>
            </a:r>
          </a:p>
          <a:p>
            <a:pPr/>
            <a:r>
              <a:rPr sz="2200"/>
              <a:t>Use new vocabulary correctly.</a:t>
            </a:r>
          </a:p>
          <a:p>
            <a:pPr/>
            <a:r>
              <a:rPr sz="2200"/>
              <a:t>Spot pronouns, direct speech, adverbs.</a:t>
            </a:r>
          </a:p>
          <a:p>
            <a:pPr/>
            <a:r>
              <a:rPr sz="2200"/>
              <a:t>Find rhyming pairs in the poem.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Aesop and his fables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Aesop was an ancient Greek storyteller.</a:t>
            </a:r>
          </a:p>
          <a:p>
            <a:pPr/>
            <a:r>
              <a:rPr sz="2200"/>
              <a:t>His fables are short, with sharp morals.</a:t>
            </a:r>
          </a:p>
          <a:p>
            <a:pPr/>
            <a:r>
              <a:rPr sz="2200"/>
              <a:t>Characters are usually animals.</a:t>
            </a:r>
          </a:p>
          <a:p>
            <a:pPr/>
            <a:r>
              <a:rPr sz="2200"/>
              <a:t>Each fable's purpose: teach a life lesson.</a:t>
            </a:r>
          </a:p>
          <a:p>
            <a:pPr/>
            <a:r>
              <a:rPr sz="2200"/>
              <a:t>Today's fable is one of his most famous.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raven steals a piece of cheese.</a:t>
            </a:r>
          </a:p>
          <a:p>
            <a:pPr/>
            <a:r>
              <a:rPr sz="2200"/>
              <a:t>He flies to a tall tree to eat it.</a:t>
            </a:r>
          </a:p>
          <a:p>
            <a:pPr/>
            <a:r>
              <a:rPr sz="2200"/>
              <a:t>A hungry fox sees the cheese.</a:t>
            </a:r>
          </a:p>
          <a:p>
            <a:pPr/>
            <a:r>
              <a:rPr sz="2200"/>
              <a:t>The fox cannot climb the tree.</a:t>
            </a:r>
          </a:p>
          <a:p>
            <a:pPr/>
            <a:r>
              <a:rPr sz="2200"/>
              <a:t>He needs a TRICK.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The trick — flattery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Fox: 'How beautiful you are!'</a:t>
            </a:r>
          </a:p>
          <a:p>
            <a:pPr/>
            <a:r>
              <a:rPr sz="2200"/>
              <a:t>Fox: 'Your shining black feathers, your wings — heavenly!'</a:t>
            </a:r>
          </a:p>
          <a:p>
            <a:pPr/>
            <a:r>
              <a:rPr sz="2200"/>
              <a:t>Fox: 'Surely a bird so beautiful must have a wonderful voice?'</a:t>
            </a:r>
          </a:p>
          <a:p>
            <a:pPr/>
            <a:r>
              <a:rPr sz="2200"/>
              <a:t>Raven (full of pride) opens his beak to show off.</a:t>
            </a:r>
          </a:p>
          <a:p>
            <a:pPr/>
            <a:r>
              <a:rPr sz="2200"/>
              <a:t>PLOP — the cheese falls!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The fox grabs the cheese and runs.</a:t>
            </a:r>
          </a:p>
          <a:p>
            <a:pPr/>
            <a:r>
              <a:rPr sz="2200"/>
              <a:t>He calls back: 'You have voice — but no SENSE!'</a:t>
            </a:r>
          </a:p>
          <a:p>
            <a:pPr/>
            <a:r>
              <a:rPr sz="2200"/>
              <a:t>Moral: Beware of those who flatter you.</a:t>
            </a:r>
          </a:p>
          <a:p>
            <a:pPr/>
            <a:r>
              <a:rPr sz="2200"/>
              <a:t>They often want something from you.</a:t>
            </a:r>
          </a:p>
          <a:p>
            <a:pPr/>
            <a:r>
              <a:rPr sz="2200"/>
              <a:t>This is one of the oldest lessons in storytelling.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flatter — praise excessively (to get something).</a:t>
            </a:r>
          </a:p>
          <a:p>
            <a:pPr/>
            <a:r>
              <a:rPr sz="2200"/>
              <a:t>vain — too proud of one's appearance.</a:t>
            </a:r>
          </a:p>
          <a:p>
            <a:pPr/>
            <a:r>
              <a:rPr sz="2200"/>
              <a:t>pride — excessive self-importance.</a:t>
            </a:r>
          </a:p>
          <a:p>
            <a:pPr/>
            <a:r>
              <a:rPr sz="2200"/>
              <a:t>cunning — clever in a sneaky way.</a:t>
            </a:r>
          </a:p>
          <a:p>
            <a:pPr/>
            <a:r>
              <a:rPr sz="2200"/>
              <a:t>sense — good judgement; common sense.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Language: pronouns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Pronouns replace nouns.</a:t>
            </a:r>
          </a:p>
          <a:p>
            <a:pPr/>
            <a:r>
              <a:rPr sz="2200"/>
              <a:t>Personal pronouns: I, you, he, she, it, we, they.</a:t>
            </a:r>
          </a:p>
          <a:p>
            <a:pPr/>
            <a:r>
              <a:rPr sz="2200"/>
              <a:t>Without pronouns: 'The raven saw the fox. The raven opened the raven's beak.'</a:t>
            </a:r>
          </a:p>
          <a:p>
            <a:pPr/>
            <a:r>
              <a:rPr sz="2200"/>
              <a:t>With pronouns: 'The raven saw the fox. He opened HIS beak.'</a:t>
            </a:r>
          </a:p>
          <a:p>
            <a:pPr/>
            <a:r>
              <a:rPr sz="2200"/>
              <a:t>Pronouns make sentences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Language: 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DIRECT SPEECH = the speaker's exact words, in quotation marks.</a:t>
            </a:r>
          </a:p>
          <a:p>
            <a:pPr/>
            <a:r>
              <a:rPr sz="2200"/>
              <a:t>Format: She said, "Hello!"</a:t>
            </a:r>
          </a:p>
          <a:p>
            <a:pPr/>
            <a:r>
              <a:rPr sz="2200"/>
              <a:t>Comma after 'said'; quote marks around the words; punctuation INSIDE the quotes.</a:t>
            </a:r>
          </a:p>
          <a:p>
            <a:pPr/>
            <a:r>
              <a:rPr sz="2200"/>
              <a:t>Example: The fox said, "What a beautiful raven you are!"</a:t>
            </a:r>
          </a:p>
          <a:p>
            <a:pPr/>
            <a:r>
              <a:rPr sz="2200"/>
              <a:t>Useful for stories and dialogues.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Language: adverbs and rhyme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ADVERBS describe actions: quickly, sweetly, softly.</a:t>
            </a:r>
          </a:p>
          <a:p>
            <a:pPr/>
            <a:r>
              <a:rPr sz="2200"/>
              <a:t>Many end in -ly (but not all — fast, soon are also adverbs).</a:t>
            </a:r>
          </a:p>
          <a:p>
            <a:pPr/>
            <a:r>
              <a:rPr sz="2200"/>
              <a:t>RHYME: pairs of words sounding alike at the end.</a:t>
            </a:r>
          </a:p>
          <a:p>
            <a:pPr/>
            <a:r>
              <a:rPr sz="2200"/>
              <a:t>From the poem: cheese / ease; fox / rocks; refuse / news.</a:t>
            </a:r>
          </a:p>
          <a:p>
            <a:pPr/>
            <a:r>
              <a:rPr sz="2200"/>
              <a:t>Rhyme makes a poem easy to remember.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Spot the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Sentence: 'The cunning fox spoke sweetly to the proud raven.'</a:t>
            </a:r>
          </a:p>
          <a:p>
            <a:pPr/>
            <a:r>
              <a:rPr sz="2200"/>
              <a:t>Adjectives: cunning, proud.</a:t>
            </a:r>
          </a:p>
          <a:p>
            <a:pPr/>
            <a:r>
              <a:rPr sz="2200"/>
              <a:t>Adverb: sweetly.</a:t>
            </a:r>
          </a:p>
          <a:p>
            <a:pPr/>
            <a:r>
              <a:rPr sz="2200"/>
              <a:t>Common nouns: fox, raven.</a:t>
            </a:r>
          </a:p>
          <a:p>
            <a:pPr/>
            <a:r>
              <a:rPr sz="2200"/>
              <a:t>Verb (past tense): spoke.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Why doesn't the fox just take the cheese?</a:t>
            </a:r>
          </a:p>
          <a:p>
            <a:pPr/>
            <a:r>
              <a:rPr sz="2200"/>
              <a:t>2. What weakness in the raven does the fox use?</a:t>
            </a:r>
          </a:p>
          <a:p>
            <a:pPr/>
            <a:r>
              <a:rPr sz="2200"/>
              <a:t>3. Find a rhyming pair from the poem.</a:t>
            </a:r>
          </a:p>
          <a:p>
            <a:pPr/>
            <a:r>
              <a:rPr sz="2200"/>
              <a:t>4. Convert: 'I will sing for you' to direct speech inside quotation marks.</a:t>
            </a:r>
          </a:p>
          <a:p>
            <a:pPr/>
            <a:r>
              <a:rPr sz="2200"/>
              <a:t>5. State the moral in your own words.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Who wrote the fable?</a:t>
            </a:r>
          </a:p>
          <a:p>
            <a:pPr/>
            <a:r>
              <a:rPr sz="2200"/>
              <a:t>Q2. What is the moral?</a:t>
            </a:r>
          </a:p>
          <a:p>
            <a:pPr/>
            <a:r>
              <a:rPr sz="2200"/>
              <a:t>Q3. Pronoun in 'The fox grinned at him': ?</a:t>
            </a:r>
          </a:p>
          <a:p>
            <a:pPr/>
            <a:r>
              <a:rPr sz="2200"/>
              <a:t>Q4. Rhymes with 'fox'?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Aesop's fable about a fox who flatters a vain raven.</a:t>
            </a:r>
          </a:p>
          <a:p>
            <a:pPr/>
            <a:r>
              <a:rPr sz="2200"/>
              <a:t>The fox's trick: praise → ask raven to sing → cheese falls.</a:t>
            </a:r>
          </a:p>
          <a:p>
            <a:pPr/>
            <a:r>
              <a:rPr sz="2200"/>
              <a:t>Moral: BEWARE OF FLATTERERS — they often want something.</a:t>
            </a:r>
          </a:p>
          <a:p>
            <a:pPr/>
            <a:r>
              <a:rPr sz="2200"/>
              <a:t>Vocabulary: flatter, vain, pride, cunning, sense.</a:t>
            </a:r>
          </a:p>
          <a:p>
            <a:pPr/>
            <a:r>
              <a:rPr sz="2200"/>
              <a:t>Pronouns replace nouns; direct speech uses quotation marks.</a:t>
            </a:r>
          </a:p>
          <a:p>
            <a:pPr/>
            <a:r>
              <a:rPr sz="2200"/>
              <a:t>Adverbs often end in -ly; poems use RHYME.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