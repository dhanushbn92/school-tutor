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Percent means 'per hundred' — a universal yardstick that drives commercial mathematics.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each; ask which seems hardest.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the conversions until they become automatic.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formulas to memorise; both are about ratios.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10 % up + 10 % down ≠ 0 — drill this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both approaches; let students see the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'on CP' rule is the chapter's biggest pitfall.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markup-then-discount example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Highlight: actual profit % depends on BOTH markup and discount.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four re-arrangements.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CI = 662 vs SI = 600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that increasing n raises the amount.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room; address common slips.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the question with the most disagreement.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worksheet, announce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Percentage and Its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Mathematics  ·  Percentage and Its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Convert between fractions, decimals and percents.</a:t>
            </a:r>
          </a:p>
          <a:p>
            <a:pPr/>
            <a:r>
              <a:rPr sz="2200"/>
              <a:t>Apply x % of A and successive percentage changes.</a:t>
            </a:r>
          </a:p>
          <a:p>
            <a:pPr/>
            <a:r>
              <a:rPr sz="2200"/>
              <a:t>Solve profit / loss / discount problems on CP and MP.</a:t>
            </a:r>
          </a:p>
          <a:p>
            <a:pPr/>
            <a:r>
              <a:rPr sz="2200"/>
              <a:t>Apply simple-interest and compound-interest formulas.</a:t>
            </a:r>
          </a:p>
          <a:p>
            <a:pPr/>
            <a:r>
              <a:rPr sz="2200"/>
              <a:t>Compare yearly, half-yearly and quarterly compounding.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Percent — three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Percent = fraction with denominator 100.</a:t>
            </a:r>
          </a:p>
          <a:p>
            <a:pPr/>
            <a:r>
              <a:rPr sz="2200"/>
              <a:t>25 % = 25/100 = 1/4 = 0.25.</a:t>
            </a:r>
          </a:p>
          <a:p>
            <a:pPr/>
            <a:r>
              <a:rPr sz="2200"/>
              <a:t>Decimal → percent: × 100.</a:t>
            </a:r>
          </a:p>
          <a:p>
            <a:pPr/>
            <a:r>
              <a:rPr sz="2200"/>
              <a:t>Percent → decimal: ÷ 100.</a:t>
            </a:r>
          </a:p>
          <a:p>
            <a:pPr/>
            <a:r>
              <a:rPr sz="2200"/>
              <a:t>Fraction → percent: convert to decimal × 100.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Percentage of a quantity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x % of A = (x/100) · A.</a:t>
            </a:r>
          </a:p>
          <a:p>
            <a:pPr/>
            <a:r>
              <a:rPr sz="2200"/>
              <a:t>20 % of 250 = 50.</a:t>
            </a:r>
          </a:p>
          <a:p>
            <a:pPr/>
            <a:r>
              <a:rPr sz="2200"/>
              <a:t>12.5 % of 80 = 10.</a:t>
            </a:r>
          </a:p>
          <a:p>
            <a:pPr/>
            <a:r>
              <a:rPr sz="2200"/>
              <a:t>A as a % of B = (A/B) · 100 %.</a:t>
            </a:r>
          </a:p>
          <a:p>
            <a:pPr/>
            <a:r>
              <a:rPr sz="2200"/>
              <a:t>18 as a % of 50 = 36 %.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Increase and decrease percent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% change = (NEW − OLD)/OLD · 100 %.</a:t>
            </a:r>
          </a:p>
          <a:p>
            <a:pPr/>
            <a:r>
              <a:rPr sz="2200"/>
              <a:t>New after p % increase: A · (1 + p/100).</a:t>
            </a:r>
          </a:p>
          <a:p>
            <a:pPr/>
            <a:r>
              <a:rPr sz="2200"/>
              <a:t>New after p % decrease: A · (1 − p/100).</a:t>
            </a:r>
          </a:p>
          <a:p>
            <a:pPr/>
            <a:r>
              <a:rPr sz="2200"/>
              <a:t>Successive p % then q %: total = (1 + p/100)(1 + q/100).</a:t>
            </a:r>
          </a:p>
          <a:p>
            <a:pPr/>
            <a:r>
              <a:rPr sz="2200"/>
              <a:t>Net % = p + q + pq/100 (NOT p + q).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Successive 20 % and 25 % discounts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Net factor: 0.80 × 0.75 = 0.60.</a:t>
            </a:r>
          </a:p>
          <a:p>
            <a:pPr/>
            <a:r>
              <a:rPr sz="2200"/>
              <a:t>Net discount = 40 %.</a:t>
            </a:r>
          </a:p>
          <a:p>
            <a:pPr/>
            <a:r>
              <a:rPr sz="2200"/>
              <a:t>Formula: 20 + 25 − (20·25)/100 = 40 %.</a:t>
            </a:r>
          </a:p>
          <a:p>
            <a:pPr/>
            <a:r>
              <a:rPr sz="2200"/>
              <a:t>Two ways agree.</a:t>
            </a:r>
          </a:p>
          <a:p>
            <a:pPr/>
            <a:r>
              <a:rPr sz="2200"/>
              <a:t>Lesson: successive % use multiplication, not addition.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and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CP = cost price; SP = selling price.</a:t>
            </a:r>
          </a:p>
          <a:p>
            <a:pPr/>
            <a:r>
              <a:rPr sz="2200"/>
              <a:t>SP &gt; CP → Profit = SP − CP.</a:t>
            </a:r>
          </a:p>
          <a:p>
            <a:pPr/>
            <a:r>
              <a:rPr sz="2200"/>
              <a:t>SP &lt; CP → Loss = CP − SP.</a:t>
            </a:r>
          </a:p>
          <a:p>
            <a:pPr/>
            <a:r>
              <a:rPr sz="2200"/>
              <a:t>Profit % = Profit/CP · 100 %; ALWAYS on CP.</a:t>
            </a:r>
          </a:p>
          <a:p>
            <a:pPr/>
            <a:r>
              <a:rPr sz="2200"/>
              <a:t>Reverse: CP = SP / (1 + gain%/100).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MP = marked price; SP after discount.</a:t>
            </a:r>
          </a:p>
          <a:p>
            <a:pPr/>
            <a:r>
              <a:rPr sz="2200"/>
              <a:t>Discount % is on MP (not on CP).</a:t>
            </a:r>
          </a:p>
          <a:p>
            <a:pPr/>
            <a:r>
              <a:rPr sz="2200"/>
              <a:t>SP = MP · (1 − d/100).</a:t>
            </a:r>
          </a:p>
          <a:p>
            <a:pPr/>
            <a:r>
              <a:rPr sz="2200"/>
              <a:t>Combined with markup: MP = CP · (1 + markup%/100); SP = MP · (1 − d/100).</a:t>
            </a:r>
          </a:p>
          <a:p>
            <a:pPr/>
            <a:r>
              <a:rPr sz="2200"/>
              <a:t>Common trap: 25 % markup + 20 % discount → 0 % profit.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 example: profit-and-discount combined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MP marked 30 % above CP; 10 % discount given.</a:t>
            </a:r>
          </a:p>
          <a:p>
            <a:pPr/>
            <a:r>
              <a:rPr sz="2200"/>
              <a:t>Let CP = 100 → MP = 130.</a:t>
            </a:r>
          </a:p>
          <a:p>
            <a:pPr/>
            <a:r>
              <a:rPr sz="2200"/>
              <a:t>SP = 130 × 0.90 = 117.</a:t>
            </a:r>
          </a:p>
          <a:p>
            <a:pPr/>
            <a:r>
              <a:rPr sz="2200"/>
              <a:t>Profit = 17; profit % = 17 %.</a:t>
            </a:r>
          </a:p>
          <a:p>
            <a:pPr/>
            <a:r>
              <a:rPr sz="2200"/>
              <a:t>Markup ≠ profit when there's a discount.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SI = P · r · t / 100.</a:t>
            </a:r>
          </a:p>
          <a:p>
            <a:pPr/>
            <a:r>
              <a:rPr sz="2200"/>
              <a:t>Amount A = P + SI = P(1 + rt/100).</a:t>
            </a:r>
          </a:p>
          <a:p>
            <a:pPr/>
            <a:r>
              <a:rPr sz="2200"/>
              <a:t>Each year you owe r % of the ORIGINAL principal.</a:t>
            </a:r>
          </a:p>
          <a:p>
            <a:pPr/>
            <a:r>
              <a:rPr sz="2200"/>
              <a:t>Re-arrangements: P = SI·100/(rt); r = SI·100/(Pt); t = SI·100/(Pr).</a:t>
            </a:r>
          </a:p>
          <a:p>
            <a:pPr/>
            <a:r>
              <a:rPr sz="2200"/>
              <a:t>Linear growth in 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Compound interest — yearly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Each period, interest is added to principal.</a:t>
            </a:r>
          </a:p>
          <a:p>
            <a:pPr/>
            <a:r>
              <a:rPr sz="2200"/>
              <a:t>A = P · (1 + r/100)^t.</a:t>
            </a:r>
          </a:p>
          <a:p>
            <a:pPr/>
            <a:r>
              <a:rPr sz="2200"/>
              <a:t>CI = A − P.</a:t>
            </a:r>
          </a:p>
          <a:p>
            <a:pPr/>
            <a:r>
              <a:rPr sz="2200"/>
              <a:t>Exponential growth.</a:t>
            </a:r>
          </a:p>
          <a:p>
            <a:pPr/>
            <a:r>
              <a:rPr sz="2200"/>
              <a:t>₹2000 at 10 % for 3 yr → A = 2662; CI = 662.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Sub-annual compounding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n compoundings per year:</a:t>
            </a:r>
          </a:p>
          <a:p>
            <a:pPr/>
            <a:r>
              <a:rPr sz="2200"/>
              <a:t>A = P · (1 + r/(100n))^(n·t).</a:t>
            </a:r>
          </a:p>
          <a:p>
            <a:pPr/>
            <a:r>
              <a:rPr sz="2200"/>
              <a:t>Half-yearly: n = 2; quarterly: n = 4.</a:t>
            </a:r>
          </a:p>
          <a:p>
            <a:pPr/>
            <a:r>
              <a:rPr sz="2200"/>
              <a:t>More frequent → larger maturity amount.</a:t>
            </a:r>
          </a:p>
          <a:p>
            <a:pPr/>
            <a:r>
              <a:rPr sz="2200"/>
              <a:t>Half-yearly ₹2000 at 10 % for 3 yr → A ≈ 2680.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Express 5/4 as a percent.</a:t>
            </a:r>
          </a:p>
          <a:p>
            <a:pPr/>
            <a:r>
              <a:rPr sz="2200"/>
              <a:t>2. After two 10 % discounts, what's the equivalent single discount?</a:t>
            </a:r>
          </a:p>
          <a:p>
            <a:pPr/>
            <a:r>
              <a:rPr sz="2200"/>
              <a:t>3. CP = ₹400, SP = ₹360. Find loss %.</a:t>
            </a:r>
          </a:p>
          <a:p>
            <a:pPr/>
            <a:r>
              <a:rPr sz="2200"/>
              <a:t>4. SI on ₹2500 at 6 % p.a. for 2 years.</a:t>
            </a:r>
          </a:p>
          <a:p>
            <a:pPr/>
            <a:r>
              <a:rPr sz="2200"/>
              <a:t>5. CI on ₹1000 at 5 % for 2 years (yearly).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60 % as a fraction in lowest terms?</a:t>
            </a:r>
          </a:p>
          <a:p>
            <a:pPr/>
            <a:r>
              <a:rPr sz="2200"/>
              <a:t>Q2. 10 % up + 10 % down = ?</a:t>
            </a:r>
          </a:p>
          <a:p>
            <a:pPr/>
            <a:r>
              <a:rPr sz="2200"/>
              <a:t>Q3. Profit % is on CP or SP?</a:t>
            </a:r>
          </a:p>
          <a:p>
            <a:pPr/>
            <a:r>
              <a:rPr sz="2200"/>
              <a:t>Q4. Discount % is on CP or MP?</a:t>
            </a:r>
          </a:p>
          <a:p>
            <a:pPr/>
            <a:r>
              <a:rPr sz="2200"/>
              <a:t>Show your answers on fingers.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% = per hundred. Three forms of one number.</a:t>
            </a:r>
          </a:p>
          <a:p>
            <a:pPr/>
            <a:r>
              <a:rPr sz="2200"/>
              <a:t>Successive % multiply; (p + q + pq/100) is the net change.</a:t>
            </a:r>
          </a:p>
          <a:p>
            <a:pPr/>
            <a:r>
              <a:rPr sz="2200"/>
              <a:t>Profit / loss % on CP. Discount % on MP.</a:t>
            </a:r>
          </a:p>
          <a:p>
            <a:pPr/>
            <a:r>
              <a:rPr sz="2200"/>
              <a:t>SI = Prt/100 (linear). A = P(1 + r/100)^t (exponential).</a:t>
            </a:r>
          </a:p>
          <a:p>
            <a:pPr/>
            <a:r>
              <a:rPr sz="2200"/>
              <a:t>Sub-annual: r → r/n, t → n·t.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