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geometry's basics — points, lines and the angles they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seems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each on the board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two arms of different lengths but same opening — same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a protractor visible at the front; demonstrate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inner-vs-outer scale — it depends on which way the first arm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all five types side-by-side.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whip-round; ask students to classify.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symbols ∥ and 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two crossing lines; label one angle; derive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address common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worksheet and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Lines and 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Mathematics  ·  Lines and Angles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Distinguish point, line, segment, ray.</a:t>
            </a:r>
          </a:p>
          <a:p>
            <a:pPr/>
            <a:r>
              <a:rPr sz="2200"/>
              <a:t>Name angles using the three-letter convention.</a:t>
            </a:r>
          </a:p>
          <a:p>
            <a:pPr/>
            <a:r>
              <a:rPr sz="2200"/>
              <a:t>Use a protractor to measure and draw angles.</a:t>
            </a:r>
          </a:p>
          <a:p>
            <a:pPr/>
            <a:r>
              <a:rPr sz="2200"/>
              <a:t>Classify angles by type (acute / right / obtuse / straight / reflex).</a:t>
            </a:r>
          </a:p>
          <a:p>
            <a:pPr/>
            <a:r>
              <a:rPr sz="2200"/>
              <a:t>Find missing angles at an intersection using two simple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Point: a position. No length, no width.</a:t>
            </a:r>
          </a:p>
          <a:p>
            <a:pPr/>
            <a:r>
              <a:rPr sz="2200"/>
              <a:t>Line: extends without end in BOTH directions. No endpoints.</a:t>
            </a:r>
          </a:p>
          <a:p>
            <a:pPr/>
            <a:r>
              <a:rPr sz="2200"/>
              <a:t>Line segment: piece of a line with TWO endpoints. Finite length.</a:t>
            </a:r>
          </a:p>
          <a:p>
            <a:pPr/>
            <a:r>
              <a:rPr sz="2200"/>
              <a:t>Ray: ONE endpoint, extends without end in the other direction.</a:t>
            </a:r>
          </a:p>
          <a:p>
            <a:pPr/>
            <a:r>
              <a:rPr sz="2200"/>
              <a:t>Compare endpoints: 0 / 0 / 2 / 1 (point / line / segment / ray).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angle?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Two rays sharing the same endpoint form an angle.</a:t>
            </a:r>
          </a:p>
          <a:p>
            <a:pPr/>
            <a:r>
              <a:rPr sz="2200"/>
              <a:t>Shared endpoint = VERTEX.</a:t>
            </a:r>
          </a:p>
          <a:p>
            <a:pPr/>
            <a:r>
              <a:rPr sz="2200"/>
              <a:t>The two rays = ARMS.</a:t>
            </a:r>
          </a:p>
          <a:p>
            <a:pPr/>
            <a:r>
              <a:rPr sz="2200"/>
              <a:t>Naming: ∠ABC means vertex is B (middle letter).</a:t>
            </a:r>
          </a:p>
          <a:p>
            <a:pPr/>
            <a:r>
              <a:rPr sz="2200"/>
              <a:t>Arm length doesn't change the angle — only the OPENING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angles — degrees and protractors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Unit: DEGREE (°).</a:t>
            </a:r>
          </a:p>
          <a:p>
            <a:pPr/>
            <a:r>
              <a:rPr sz="2200"/>
              <a:t>Full turn = 360°. Half = 180°. Quarter = 90°.</a:t>
            </a:r>
          </a:p>
          <a:p>
            <a:pPr/>
            <a:r>
              <a:rPr sz="2200"/>
              <a:t>Protractor: half-circle tool, 0° to 180°.</a:t>
            </a:r>
          </a:p>
          <a:p>
            <a:pPr/>
            <a:r>
              <a:rPr sz="2200"/>
              <a:t>Step 1: place centre on vertex.</a:t>
            </a:r>
          </a:p>
          <a:p>
            <a:pPr/>
            <a:r>
              <a:rPr sz="2200"/>
              <a:t>Step 2: align 0° with one arm; read where the other crosses.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Live demo: measuring a 60°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Draw two arms meeting at vertex V.</a:t>
            </a:r>
          </a:p>
          <a:p>
            <a:pPr/>
            <a:r>
              <a:rPr sz="2200"/>
              <a:t>Place protractor centre on V.</a:t>
            </a:r>
          </a:p>
          <a:p>
            <a:pPr/>
            <a:r>
              <a:rPr sz="2200"/>
              <a:t>Align 0° with one arm.</a:t>
            </a:r>
          </a:p>
          <a:p>
            <a:pPr/>
            <a:r>
              <a:rPr sz="2200"/>
              <a:t>Read other arm crosses at 60° on the inner scale.</a:t>
            </a:r>
          </a:p>
          <a:p>
            <a:pPr/>
            <a:r>
              <a:rPr sz="2200"/>
              <a:t>So the angle measures 60°.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Acute: 0° &lt; θ &lt; 90° (e.g. 30°).</a:t>
            </a:r>
          </a:p>
          <a:p>
            <a:pPr/>
            <a:r>
              <a:rPr sz="2200"/>
              <a:t>Right: θ = 90° (mark with a small square).</a:t>
            </a:r>
          </a:p>
          <a:p>
            <a:pPr/>
            <a:r>
              <a:rPr sz="2200"/>
              <a:t>Obtuse: 90° &lt; θ &lt; 180° (e.g. 120°).</a:t>
            </a:r>
          </a:p>
          <a:p>
            <a:pPr/>
            <a:r>
              <a:rPr sz="2200"/>
              <a:t>Straight: θ = 180°.</a:t>
            </a:r>
          </a:p>
          <a:p>
            <a:pPr/>
            <a:r>
              <a:rPr sz="2200"/>
              <a:t>Reflex: 180° &lt; θ &lt; 360°.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Classify each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25° → acute.</a:t>
            </a:r>
          </a:p>
          <a:p>
            <a:pPr/>
            <a:r>
              <a:rPr sz="2200"/>
              <a:t>90° → right.</a:t>
            </a:r>
          </a:p>
          <a:p>
            <a:pPr/>
            <a:r>
              <a:rPr sz="2200"/>
              <a:t>135° → obtuse.</a:t>
            </a:r>
          </a:p>
          <a:p>
            <a:pPr/>
            <a:r>
              <a:rPr sz="2200"/>
              <a:t>180° → straight.</a:t>
            </a:r>
          </a:p>
          <a:p>
            <a:pPr/>
            <a:r>
              <a:rPr sz="2200"/>
              <a:t>240° → reflex.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Parallel, intersecting, perpendicular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Parallel: never meet (∥). Example: railway tracks.</a:t>
            </a:r>
          </a:p>
          <a:p>
            <a:pPr/>
            <a:r>
              <a:rPr sz="2200"/>
              <a:t>Intersecting: cross at one point.</a:t>
            </a:r>
          </a:p>
          <a:p>
            <a:pPr/>
            <a:r>
              <a:rPr sz="2200"/>
              <a:t>Perpendicular: intersect at 90° (⊥). Example: corners of a book.</a:t>
            </a:r>
          </a:p>
          <a:p>
            <a:pPr/>
            <a:r>
              <a:rPr sz="2200"/>
              <a:t>Perpendicular is a SPECIAL CASE of intersecting.</a:t>
            </a:r>
          </a:p>
          <a:p>
            <a:pPr/>
            <a:r>
              <a:rPr sz="2200"/>
              <a:t>In a flat plane, two non-intersecting lines must be parallel.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Angles when two lines 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Two lines cross → FOUR angles around the point.</a:t>
            </a:r>
          </a:p>
          <a:p>
            <a:pPr/>
            <a:r>
              <a:rPr sz="2200"/>
              <a:t>All four sum to 360°.</a:t>
            </a:r>
          </a:p>
          <a:p>
            <a:pPr/>
            <a:r>
              <a:rPr sz="2200"/>
              <a:t>LINEAR PAIR (adjacent): sum = 180°.</a:t>
            </a:r>
          </a:p>
          <a:p>
            <a:pPr/>
            <a:r>
              <a:rPr sz="2200"/>
              <a:t>VERTICALLY OPPOSITE: equal.</a:t>
            </a:r>
          </a:p>
          <a:p>
            <a:pPr/>
            <a:r>
              <a:rPr sz="2200"/>
              <a:t>From ONE angle you can find the other three.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If one angle is 70°, find the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Vertically opposite to 70° = 70°.</a:t>
            </a:r>
          </a:p>
          <a:p>
            <a:pPr/>
            <a:r>
              <a:rPr sz="2200"/>
              <a:t>Adjacent (linear pair) = 180° − 70° = 110°.</a:t>
            </a:r>
          </a:p>
          <a:p>
            <a:pPr/>
            <a:r>
              <a:rPr sz="2200"/>
              <a:t>The other angle (vertically opposite to 110°) = 110°.</a:t>
            </a:r>
          </a:p>
          <a:p>
            <a:pPr/>
            <a:r>
              <a:rPr sz="2200"/>
              <a:t>All four: 70°, 110°, 70°, 110°.</a:t>
            </a:r>
          </a:p>
          <a:p>
            <a:pPr/>
            <a:r>
              <a:rPr sz="2200"/>
              <a:t>Sum: 70 + 110 + 70 + 110 = 360° ✓.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Classify 88°, 90°, 175°, 200°.</a:t>
            </a:r>
          </a:p>
          <a:p>
            <a:pPr/>
            <a:r>
              <a:rPr sz="2200"/>
              <a:t>2. Two lines cross; one angle is 25°. Find the other three.</a:t>
            </a:r>
          </a:p>
          <a:p>
            <a:pPr/>
            <a:r>
              <a:rPr sz="2200"/>
              <a:t>3. Name the angle with vertex Q and arms through M and N.</a:t>
            </a:r>
          </a:p>
          <a:p>
            <a:pPr/>
            <a:r>
              <a:rPr sz="2200"/>
              <a:t>4. Draw a 75° angle with your protractor.</a:t>
            </a:r>
          </a:p>
          <a:p>
            <a:pPr/>
            <a:r>
              <a:rPr sz="2200"/>
              <a:t>5. Find one example each of parallel and perpendicular lines around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How many endpoints does a ray have?</a:t>
            </a:r>
          </a:p>
          <a:p>
            <a:pPr/>
            <a:r>
              <a:rPr sz="2200"/>
              <a:t>Q2. An angle of 178° — acute, right, obtuse, or straight?</a:t>
            </a:r>
          </a:p>
          <a:p>
            <a:pPr/>
            <a:r>
              <a:rPr sz="2200"/>
              <a:t>Q3. Linear pair sums to ____°.</a:t>
            </a:r>
          </a:p>
          <a:p>
            <a:pPr/>
            <a:r>
              <a:rPr sz="2200"/>
              <a:t>Q4. The hands of a clock at 3:00 form what type of angle?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Point / line / segment / ray — distinguish by number of endpoints.</a:t>
            </a:r>
          </a:p>
          <a:p>
            <a:pPr/>
            <a:r>
              <a:rPr sz="2200"/>
              <a:t>Angle = two rays sharing a vertex; name with vertex in middle.</a:t>
            </a:r>
          </a:p>
          <a:p>
            <a:pPr/>
            <a:r>
              <a:rPr sz="2200"/>
              <a:t>Measure in degrees with a protractor; full turn = 360°.</a:t>
            </a:r>
          </a:p>
          <a:p>
            <a:pPr/>
            <a:r>
              <a:rPr sz="2200"/>
              <a:t>Acute &lt; 90 &lt; right = 90 &lt; obtuse &lt; 180 = straight &lt; reflex &lt; 360 = complete.</a:t>
            </a:r>
          </a:p>
          <a:p>
            <a:pPr/>
            <a:r>
              <a:rPr sz="2200"/>
              <a:t>Parallel ∥, perpendicular ⊥.</a:t>
            </a:r>
          </a:p>
          <a:p>
            <a:pPr/>
            <a:r>
              <a:rPr sz="2200"/>
              <a:t>At an intersection: linear pair = 180°, vertically opposite are equal.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