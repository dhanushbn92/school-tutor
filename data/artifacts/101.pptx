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This is a foundational chapter. Every later chapter relies on the SI system, dimensional analysis as a sanity check, and the vector vocabulary we set up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objective; ask students which they feel least sure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sure students see that 'force' is derived (N = kg·m/s²) — a common source of confusion in board-exam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on limitations — students often think dimensional analysis can do more than it actually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slowly; ask students to call out each step. Stress the role of physics vs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the difference: 12.45 + 1.2 = 13.7 (one decimal), but 3.45 × 2.0 = 6.9 (2 sig figs).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± 0.5% in a radius becomes ± 1.5% in the volume. This 'amplification' is why error propagation matters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arrow diagrams on the board; emphasise that the position of the tail does NOT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the example, ask 'What is |F| from the components?' to reinforce √(30² + 40²) = 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right-hand-rule demo: point fingers from a to b; thumb shows direction of a ×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the abstract products to physical pictures students can visualise — pushing a box along a floor (dot) vs turning a wrench (cross).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Watch for students forgetting the magnitude in question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show-of-fingers to gauge the room. Address the question with the most disagreement.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5 takeaways. Hand out the worksheet and announce the homework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Units, Dimensions and Vectors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12  ·  Physics  ·  Units, Dimensions and Vectors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List the seven SI base units and identify common derived units.</a:t>
            </a:r>
          </a:p>
          <a:p>
            <a:pPr/>
            <a:r>
              <a:rPr sz="2200"/>
              <a:t>Write the dimensional formula of a quantity and check the consistency of an equation.</a:t>
            </a:r>
          </a:p>
          <a:p>
            <a:pPr/>
            <a:r>
              <a:rPr sz="2200"/>
              <a:t>Compute mean / relative / percentage errors and propagate them.</a:t>
            </a:r>
          </a:p>
          <a:p>
            <a:pPr/>
            <a:r>
              <a:rPr sz="2200"/>
              <a:t>Distinguish scalars from vectors and resolve a vector into components.</a:t>
            </a:r>
          </a:p>
          <a:p>
            <a:pPr/>
            <a:r>
              <a:rPr sz="2200"/>
              <a:t>Compute scalar (dot) and vector (cross) products and apply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quantities and SI units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measurement = numerical value + unit.</a:t>
            </a:r>
          </a:p>
          <a:p>
            <a:pPr/>
            <a:r>
              <a:rPr sz="2200"/>
              <a:t>Seven SI base units: m, kg, s, A, K, mol, cd.</a:t>
            </a:r>
          </a:p>
          <a:p>
            <a:pPr/>
            <a:r>
              <a:rPr sz="2200"/>
              <a:t>Derived units: N (force), J (energy), W (power), Pa (pressure), Hz (frequency), C (charge).</a:t>
            </a:r>
          </a:p>
          <a:p>
            <a:pPr/>
            <a:r>
              <a:rPr sz="2200"/>
              <a:t>Decimal prefixes scale across many orders: n, μ, m, k, M, G.</a:t>
            </a:r>
          </a:p>
          <a:p>
            <a:pPr/>
            <a:r>
              <a:rPr sz="2200"/>
              <a:t>Convention is everything: 1 km = 10³ m; 1 nm = 10⁻⁹ 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Dimensions and dimensional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Dimensions express how a quantity depends on M, L, T, A.</a:t>
            </a:r>
          </a:p>
          <a:p>
            <a:pPr/>
            <a:r>
              <a:rPr sz="2200"/>
              <a:t>Force [M L T⁻²]; energy [M L² T⁻²]; pressure [M L⁻¹ T⁻²].</a:t>
            </a:r>
          </a:p>
          <a:p>
            <a:pPr/>
            <a:r>
              <a:rPr sz="2200"/>
              <a:t>Principle of homogeneity: every term in a valid equation has the same dimensions.</a:t>
            </a:r>
          </a:p>
          <a:p>
            <a:pPr/>
            <a:r>
              <a:rPr sz="2200"/>
              <a:t>Used for (i) consistency checks, (ii) deriving formulas, (iii) unit conversions.</a:t>
            </a:r>
          </a:p>
          <a:p>
            <a:pPr/>
            <a:r>
              <a:rPr sz="2200"/>
              <a:t>Limitations: cannot fix dimensionless constants or functional 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 example: derive T for a pendulum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Assume T = k L^a g^b.</a:t>
            </a:r>
          </a:p>
          <a:p>
            <a:pPr/>
            <a:r>
              <a:rPr sz="2200"/>
              <a:t>Match dimensions: T¹ = L^(a+b) T^(−2b).</a:t>
            </a:r>
          </a:p>
          <a:p>
            <a:pPr/>
            <a:r>
              <a:rPr sz="2200"/>
              <a:t>T: −2b = 1 → b = −1/2.</a:t>
            </a:r>
          </a:p>
          <a:p>
            <a:pPr/>
            <a:r>
              <a:rPr sz="2200"/>
              <a:t>L: a + b = 0 → a = 1/2.</a:t>
            </a:r>
          </a:p>
          <a:p>
            <a:pPr/>
            <a:r>
              <a:rPr sz="2200"/>
              <a:t>Hence T ∝ √(L/g); the constant 2π comes from physics, not dimensions.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Significant figures and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Sig figs: meaningful digits in a measurement.</a:t>
            </a:r>
          </a:p>
          <a:p>
            <a:pPr/>
            <a:r>
              <a:rPr sz="2200"/>
              <a:t>Multiply / divide → match sig figs to least precise input.</a:t>
            </a:r>
          </a:p>
          <a:p>
            <a:pPr/>
            <a:r>
              <a:rPr sz="2200"/>
              <a:t>Add / subtract → match decimal places.</a:t>
            </a:r>
          </a:p>
          <a:p>
            <a:pPr/>
            <a:r>
              <a:rPr sz="2200"/>
              <a:t>Errors: systematic, random, gross.</a:t>
            </a:r>
          </a:p>
          <a:p>
            <a:pPr/>
            <a:r>
              <a:rPr sz="2200"/>
              <a:t>Combining: products add relative errors; sums add absolute errors; powers multiply by exponent.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Error propagation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Sphere radius r = 2.00 ± 0.01 cm.</a:t>
            </a:r>
          </a:p>
          <a:p>
            <a:pPr/>
            <a:r>
              <a:rPr sz="2200"/>
              <a:t>Volume V = (4/3) π r³.</a:t>
            </a:r>
          </a:p>
          <a:p>
            <a:pPr/>
            <a:r>
              <a:rPr sz="2200"/>
              <a:t>% error in V = 3 × (Δr/r) × 100 = 3 × (0.01/2.00) × 100 = 1.5%.</a:t>
            </a:r>
          </a:p>
          <a:p>
            <a:pPr/>
            <a:r>
              <a:rPr sz="2200"/>
              <a:t>Rule: relative error in xⁿ is n × (relative error in x).</a:t>
            </a:r>
          </a:p>
          <a:p>
            <a:pPr/>
            <a:r>
              <a:rPr sz="2200"/>
              <a:t>So small errors in r blow up in derived quantities like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Scalars and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Scalar: magnitude + unit (mass, energy, time).</a:t>
            </a:r>
          </a:p>
          <a:p>
            <a:pPr/>
            <a:r>
              <a:rPr sz="2200"/>
              <a:t>Vector: magnitude + direction (displacement, velocity, force).</a:t>
            </a:r>
          </a:p>
          <a:p>
            <a:pPr/>
            <a:r>
              <a:rPr sz="2200"/>
              <a:t>Vectors are equal iff same magnitude AND same direction.</a:t>
            </a:r>
          </a:p>
          <a:p>
            <a:pPr/>
            <a:r>
              <a:rPr sz="2200"/>
              <a:t>Unit vectors î, ĵ, k̂ along +x, +y, +z (each magnitude 1).</a:t>
            </a:r>
          </a:p>
          <a:p>
            <a:pPr/>
            <a:r>
              <a:rPr sz="2200"/>
              <a:t>Special types: zero, equal, negative, collinear, coplanar.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Resolving a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force of 50 N acts at 53° above +x axis.</a:t>
            </a:r>
          </a:p>
          <a:p>
            <a:pPr/>
            <a:r>
              <a:rPr sz="2200"/>
              <a:t>Take cos 53° ≈ 0.6 and sin 53° ≈ 0.8.</a:t>
            </a:r>
          </a:p>
          <a:p>
            <a:pPr/>
            <a:r>
              <a:rPr sz="2200"/>
              <a:t>F_x = 50 × 0.6 = 30 N.</a:t>
            </a:r>
          </a:p>
          <a:p>
            <a:pPr/>
            <a:r>
              <a:rPr sz="2200"/>
              <a:t>F_y = 50 × 0.8 = 40 N.</a:t>
            </a:r>
          </a:p>
          <a:p>
            <a:pPr/>
            <a:r>
              <a:rPr sz="2200"/>
              <a:t>So \vec{F} = 30 î + 40 ĵ 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Dot product: \vec{a} · \vec{b} = a b cos θ → SCALAR.</a:t>
            </a:r>
          </a:p>
          <a:p>
            <a:pPr/>
            <a:r>
              <a:rPr sz="2200"/>
              <a:t>Cross product: \vec{a} × \vec{b} → VECTOR with |·| = a b sin θ.</a:t>
            </a:r>
          </a:p>
          <a:p>
            <a:pPr/>
            <a:r>
              <a:rPr sz="2200"/>
              <a:t>Direction by right-hand rule, perpendicular to both.</a:t>
            </a:r>
          </a:p>
          <a:p>
            <a:pPr/>
            <a:r>
              <a:rPr sz="2200"/>
              <a:t>Dot product zero ⇔ vectors perpendicular.</a:t>
            </a:r>
          </a:p>
          <a:p>
            <a:pPr/>
            <a:r>
              <a:rPr sz="2200"/>
              <a:t>Cross product zero ⇔ vectors parallel.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Two physics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Work done by a constant force: W = \vec{F} · \vec{d}.</a:t>
            </a:r>
          </a:p>
          <a:p>
            <a:pPr/>
            <a:r>
              <a:rPr sz="2200"/>
              <a:t>Torque: \vec{τ} = \vec{r} × \vec{F}.</a:t>
            </a:r>
          </a:p>
          <a:p>
            <a:pPr/>
            <a:r>
              <a:rPr sz="2200"/>
              <a:t>Work uses dot (along-direction), torque uses cross (perpendicular).</a:t>
            </a:r>
          </a:p>
          <a:p>
            <a:pPr/>
            <a:r>
              <a:rPr sz="2200"/>
              <a:t>If \vec{F} ⊥ \vec{d}, no work is done.</a:t>
            </a:r>
          </a:p>
          <a:p>
            <a:pPr/>
            <a:r>
              <a:rPr sz="2200"/>
              <a:t>If \vec{F} ∥ \vec{r}, no torque is exerted.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Find the dimensional formula of momentum.</a:t>
            </a:r>
          </a:p>
          <a:p>
            <a:pPr/>
            <a:r>
              <a:rPr sz="2200"/>
              <a:t>2. Compute (3î + 4ĵ) · (4î − 3ĵ).</a:t>
            </a:r>
          </a:p>
          <a:p>
            <a:pPr/>
            <a:r>
              <a:rPr sz="2200"/>
              <a:t>3. Find a unit vector along 5î + 12ĵ.</a:t>
            </a:r>
          </a:p>
          <a:p>
            <a:pPr/>
            <a:r>
              <a:rPr sz="2200"/>
              <a:t>4. State two limitations of dimensional analysis.</a:t>
            </a:r>
          </a:p>
          <a:p>
            <a:pPr/>
            <a:r>
              <a:rPr sz="2200"/>
              <a:t>Compare answers with your bench partner.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Is force a fundamental SI quantity?</a:t>
            </a:r>
          </a:p>
          <a:p>
            <a:pPr/>
            <a:r>
              <a:rPr sz="2200"/>
              <a:t>Q2. Dimensions of energy?</a:t>
            </a:r>
          </a:p>
          <a:p>
            <a:pPr/>
            <a:r>
              <a:rPr sz="2200"/>
              <a:t>Q3. Magnitude of a sum of two perpendicular vectors of magnitudes 6 and 8?</a:t>
            </a:r>
          </a:p>
          <a:p>
            <a:pPr/>
            <a:r>
              <a:rPr sz="2200"/>
              <a:t>Q4. Dot product of perpendicular vectors?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SI base units anchor every measurement.</a:t>
            </a:r>
          </a:p>
          <a:p>
            <a:pPr/>
            <a:r>
              <a:rPr sz="2200"/>
              <a:t>Every valid equation passes the dimensional homogeneity check.</a:t>
            </a:r>
          </a:p>
          <a:p>
            <a:pPr/>
            <a:r>
              <a:rPr sz="2200"/>
              <a:t>Sig figs and error propagation tell you how trustworthy your answer is.</a:t>
            </a:r>
          </a:p>
          <a:p>
            <a:pPr/>
            <a:r>
              <a:rPr sz="2200"/>
              <a:t>Vectors require both magnitude and direction.</a:t>
            </a:r>
          </a:p>
          <a:p>
            <a:pPr/>
            <a:r>
              <a:rPr sz="2200"/>
              <a:t>Dot gives a scalar (a b cos θ); cross gives a vector (a b sin θ, perpendicular by right-hand rule).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