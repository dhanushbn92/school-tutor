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Today we meet five identities worth memorising — and learn to read them in BOTH directions: expand a product, or factor a polynomial.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students which they feel least sure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Derive both via FOIL. Stress: middle term ≠ 0 in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try 95^2 themselves: (100 − 5)^2 = 10000 − 1000 + 25 = 9025.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103 × 97 to show the mental-arithmetic power; verify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Optional: derive (a + b)^3 live by writing (a + b)·(a^2 + 2ab + b^2).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often confuse the inner sign of the quadratic factor — drill on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explicit that (x − 1) can be a 'common factor' too — not just monomials.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first pairing doesn't work, try a different one — there's no formula, just experimentation.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SIGN-PATTERN explicit: sum, product → both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four steps: a·c, find pair, split, regroup.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'strategy order' is the deliverable students should write in their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Common slips: forgetting 2ab middle term; missing a sign in split-the-middle; forgetting to combine like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worksheet and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Special Products and Factorisation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Special Products and Factorisation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Apply (a ± b)^2 and (a + b)(a − b) fluently.</a:t>
            </a:r>
          </a:p>
          <a:p>
            <a:pPr/>
            <a:r>
              <a:rPr sz="2200"/>
              <a:t>Use (x + a)(x + b) to expand and to factor.</a:t>
            </a:r>
          </a:p>
          <a:p>
            <a:pPr/>
            <a:r>
              <a:rPr sz="2200"/>
              <a:t>Expand (a ± b)^3; factor sum / difference of cubes.</a:t>
            </a:r>
          </a:p>
          <a:p>
            <a:pPr/>
            <a:r>
              <a:rPr sz="2200"/>
              <a:t>Pull out the common factor from any polynomial.</a:t>
            </a:r>
          </a:p>
          <a:p>
            <a:pPr/>
            <a:r>
              <a:rPr sz="2200"/>
              <a:t>Factor quadratics — by find-the-pair (a = 1) or by splitting the middle term.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Square of a binomial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(a + b)^2 = a^2 + 2ab + b^2.</a:t>
            </a:r>
          </a:p>
          <a:p>
            <a:pPr/>
            <a:r>
              <a:rPr sz="2200"/>
              <a:t>(a − b)^2 = a^2 − 2ab + b^2.</a:t>
            </a:r>
          </a:p>
          <a:p>
            <a:pPr/>
            <a:r>
              <a:rPr sz="2200"/>
              <a:t>Same shape; only the middle SIGN changes.</a:t>
            </a:r>
          </a:p>
          <a:p>
            <a:pPr/>
            <a:r>
              <a:rPr sz="2200"/>
              <a:t>RHS is called a perfect-square trinomial.</a:t>
            </a:r>
          </a:p>
          <a:p>
            <a:pPr/>
            <a:r>
              <a:rPr sz="2200"/>
              <a:t>Common slip: dropping the middle 2ab term.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Mental arithmetic: 105^2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105^2 = (100 + 5)^2.</a:t>
            </a:r>
          </a:p>
          <a:p>
            <a:pPr/>
            <a:r>
              <a:rPr sz="2200"/>
              <a:t>= 100^2 + 2·100·5 + 5^2.</a:t>
            </a:r>
          </a:p>
          <a:p>
            <a:pPr/>
            <a:r>
              <a:rPr sz="2200"/>
              <a:t>= 10000 + 1000 + 25.</a:t>
            </a:r>
          </a:p>
          <a:p>
            <a:pPr/>
            <a:r>
              <a:rPr sz="2200"/>
              <a:t>= 11025.</a:t>
            </a:r>
          </a:p>
          <a:p>
            <a:pPr/>
            <a:r>
              <a:rPr sz="2200"/>
              <a:t>Algebra → arithmetic shortcut.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Difference of squares &amp; product-sum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(a + b)(a − b) = a^2 − b^2 — middle terms cancel.</a:t>
            </a:r>
          </a:p>
          <a:p>
            <a:pPr/>
            <a:r>
              <a:rPr sz="2200"/>
              <a:t>(x + a)(x + b) = x^2 + (a + b)x + ab.</a:t>
            </a:r>
          </a:p>
          <a:p>
            <a:pPr/>
            <a:r>
              <a:rPr sz="2200"/>
              <a:t>Coefficient of x is the SUM; constant is the PRODUCT.</a:t>
            </a:r>
          </a:p>
          <a:p>
            <a:pPr/>
            <a:r>
              <a:rPr sz="2200"/>
              <a:t>Reverse direction: factor x^2 + bx + c by find-the-pair.</a:t>
            </a:r>
          </a:p>
          <a:p>
            <a:pPr/>
            <a:r>
              <a:rPr sz="2200"/>
              <a:t>103 × 97 = (100 + 3)(100 − 3) = 9991.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Cubes — expansions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(a + b)^3 = a^3 + 3a^2 b + 3ab^2 + b^3.</a:t>
            </a:r>
          </a:p>
          <a:p>
            <a:pPr/>
            <a:r>
              <a:rPr sz="2200"/>
              <a:t>(a − b)^3 = a^3 − 3a^2 b + 3ab^2 − b^3.</a:t>
            </a:r>
          </a:p>
          <a:p>
            <a:pPr/>
            <a:r>
              <a:rPr sz="2200"/>
              <a:t>Four terms; signs alternate in (a − b)^3.</a:t>
            </a:r>
          </a:p>
          <a:p>
            <a:pPr/>
            <a:r>
              <a:rPr sz="2200"/>
              <a:t>Useful when squaring isn't enough.</a:t>
            </a:r>
          </a:p>
          <a:p>
            <a:pPr/>
            <a:r>
              <a:rPr sz="2200"/>
              <a:t>Derivation: (a + b)·(a + b)^2 — square first, multiply once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Cubes — factor identities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a^3 + b^3 = (a + b)(a^2 − ab + b^2).</a:t>
            </a:r>
          </a:p>
          <a:p>
            <a:pPr/>
            <a:r>
              <a:rPr sz="2200"/>
              <a:t>a^3 − b^3 = (a − b)(a^2 + ab + b^2).</a:t>
            </a:r>
          </a:p>
          <a:p>
            <a:pPr/>
            <a:r>
              <a:rPr sz="2200"/>
              <a:t>Note: middle term sign of QUADRATIC factor is OPPOSITE to that of (a ± b).</a:t>
            </a:r>
          </a:p>
          <a:p>
            <a:pPr/>
            <a:r>
              <a:rPr sz="2200"/>
              <a:t>27x^3 + 8 = (3x + 2)(9x^2 − 6x + 4).</a:t>
            </a:r>
          </a:p>
          <a:p>
            <a:pPr/>
            <a:r>
              <a:rPr sz="2200"/>
              <a:t>8a^3 − 1 = (2a − 1)(4a^2 + 2a + 1).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Factorisation step 1 — common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Always pull out the GCF first.</a:t>
            </a:r>
          </a:p>
          <a:p>
            <a:pPr/>
            <a:r>
              <a:rPr sz="2200"/>
              <a:t>GCF includes BOTH numerical and variable parts.</a:t>
            </a:r>
          </a:p>
          <a:p>
            <a:pPr/>
            <a:r>
              <a:rPr sz="2200"/>
              <a:t>12a^2 b − 18ab^2 = 6ab(2a − 3b).</a:t>
            </a:r>
          </a:p>
          <a:p>
            <a:pPr/>
            <a:r>
              <a:rPr sz="2200"/>
              <a:t>Even when the common factor is itself a binomial: (x − 1)·(...).</a:t>
            </a:r>
          </a:p>
          <a:p>
            <a:pPr/>
            <a:r>
              <a:rPr sz="2200"/>
              <a:t>5(x − 1) + 7(x − 1)^2 = (x − 1)(7x − 2).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Factorisation step 2 — regrouping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Use when no factor is common to all terms.</a:t>
            </a:r>
          </a:p>
          <a:p>
            <a:pPr/>
            <a:r>
              <a:rPr sz="2200"/>
              <a:t>Pair terms so each pair pulls out a matching binomial factor.</a:t>
            </a:r>
          </a:p>
          <a:p>
            <a:pPr/>
            <a:r>
              <a:rPr sz="2200"/>
              <a:t>x^3 − 3x^2 + 4x − 12.</a:t>
            </a:r>
          </a:p>
          <a:p>
            <a:pPr/>
            <a:r>
              <a:rPr sz="2200"/>
              <a:t>= x^2(x − 3) + 4(x − 3).</a:t>
            </a:r>
          </a:p>
          <a:p>
            <a:pPr/>
            <a:r>
              <a:rPr sz="2200"/>
              <a:t>= (x − 3)(x^2 + 4).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Find-the-pair (a = 1): factor x^2 − 7x + 12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Need p + q = −7 and p · q = 12.</a:t>
            </a:r>
          </a:p>
          <a:p>
            <a:pPr/>
            <a:r>
              <a:rPr sz="2200"/>
              <a:t>Both negative (sum negative, product positive).</a:t>
            </a:r>
          </a:p>
          <a:p>
            <a:pPr/>
            <a:r>
              <a:rPr sz="2200"/>
              <a:t>Try (−3, −4): −3 + (−4) = −7 ✓, (−3)(−4) = 12 ✓.</a:t>
            </a:r>
          </a:p>
          <a:p>
            <a:pPr/>
            <a:r>
              <a:rPr sz="2200"/>
              <a:t>x^2 − 7x + 12 = (x − 3)(x − 4).</a:t>
            </a:r>
          </a:p>
          <a:p>
            <a:pPr/>
            <a:r>
              <a:rPr sz="2200"/>
              <a:t>Verify by FOIL: x^2 − 4x − 3x + 12 = x^2 − 7x + 12 ✓.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Splitting the middle term: 3x^2 + 11x + 6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a·c = 3·6 = 18.</a:t>
            </a:r>
          </a:p>
          <a:p>
            <a:pPr/>
            <a:r>
              <a:rPr sz="2200"/>
              <a:t>Need two numbers with sum 11 and product 18.</a:t>
            </a:r>
          </a:p>
          <a:p>
            <a:pPr/>
            <a:r>
              <a:rPr sz="2200"/>
              <a:t>Try (2, 9): 2 + 9 = 11 ✓, 2·9 = 18 ✓.</a:t>
            </a:r>
          </a:p>
          <a:p>
            <a:pPr/>
            <a:r>
              <a:rPr sz="2200"/>
              <a:t>Split: 3x^2 + 2x + 9x + 6.</a:t>
            </a:r>
          </a:p>
          <a:p>
            <a:pPr/>
            <a:r>
              <a:rPr sz="2200"/>
              <a:t>Regroup: x(3x + 2) + 3(3x + 2) = (3x + 2)(x + 3).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Recognising patterns in factorisation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a^2 − b^2 (difference of squares).</a:t>
            </a:r>
          </a:p>
          <a:p>
            <a:pPr/>
            <a:r>
              <a:rPr sz="2200"/>
              <a:t>a^2 ± 2ab + b^2 (perfect-square trinomial).</a:t>
            </a:r>
          </a:p>
          <a:p>
            <a:pPr/>
            <a:r>
              <a:rPr sz="2200"/>
              <a:t>a^3 ± b^3 (sum / difference of cubes).</a:t>
            </a:r>
          </a:p>
          <a:p>
            <a:pPr/>
            <a:r>
              <a:rPr sz="2200"/>
              <a:t>16a^4 − 81b^4 = (2a − 3b)(2a + 3b)(4a^2 + 9b^2) — nested DOS.</a:t>
            </a:r>
          </a:p>
          <a:p>
            <a:pPr/>
            <a:r>
              <a:rPr sz="2200"/>
              <a:t>Strategy order: GCF → pattern → split-the-middle → regroup.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Expand (4m + 3n)^2.</a:t>
            </a:r>
          </a:p>
          <a:p>
            <a:pPr/>
            <a:r>
              <a:rPr sz="2200"/>
              <a:t>2. Compute 198 × 202 using a special product.</a:t>
            </a:r>
          </a:p>
          <a:p>
            <a:pPr/>
            <a:r>
              <a:rPr sz="2200"/>
              <a:t>3. Factor x^2 + 9x + 20.</a:t>
            </a:r>
          </a:p>
          <a:p>
            <a:pPr/>
            <a:r>
              <a:rPr sz="2200"/>
              <a:t>4. Factor 4x^2 − 12x − 7.</a:t>
            </a:r>
          </a:p>
          <a:p>
            <a:pPr/>
            <a:r>
              <a:rPr sz="2200"/>
              <a:t>5. Factor 8x^3 + 125.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(a − b)^2 = ?</a:t>
            </a:r>
          </a:p>
          <a:p>
            <a:pPr/>
            <a:r>
              <a:rPr sz="2200"/>
              <a:t>Q2. (a + b)(a − b) = ?</a:t>
            </a:r>
          </a:p>
          <a:p>
            <a:pPr/>
            <a:r>
              <a:rPr sz="2200"/>
              <a:t>Q3. To factor 6x^2 + 7x − 3, what is a·c?</a:t>
            </a:r>
          </a:p>
          <a:p>
            <a:pPr/>
            <a:r>
              <a:rPr sz="2200"/>
              <a:t>Q4. Is x^2 + 4 a difference of squares?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(a ± b)^2, (a + b)(a − b), (x + a)(x + b), (a ± b)^3, a^3 ± b^3 — five identities to memorise.</a:t>
            </a:r>
          </a:p>
          <a:p>
            <a:pPr/>
            <a:r>
              <a:rPr sz="2200"/>
              <a:t>Same identities work in both directions: expand AND factor.</a:t>
            </a:r>
          </a:p>
          <a:p>
            <a:pPr/>
            <a:r>
              <a:rPr sz="2200"/>
              <a:t>Factorisation order: GCF → special-product pattern → split-the-middle → regroup.</a:t>
            </a:r>
          </a:p>
          <a:p>
            <a:pPr/>
            <a:r>
              <a:rPr sz="2200"/>
              <a:t>Always verify by re-multiplying.</a:t>
            </a:r>
          </a:p>
          <a:p>
            <a:pPr/>
            <a:r>
              <a:rPr sz="2200"/>
              <a:t>Factorisation reveals zeros — bridge to the next chapter.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