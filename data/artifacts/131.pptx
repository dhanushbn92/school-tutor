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students. In this lesson we tighten our grip on algebraic vocabulary, then meet the special class of expressions called polynomials and learn to add, subtract, multiply and evaluate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objective; ask students which they feel least sure about and weight the lesson accordingly.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5p^3 − 2p^2 + p − 9 on the board: 4 terms, with coefficients 5, −2, 1 and constant term −9.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that 'same variable part' means same letter AND same exponents. This is the workhorse rule for the entire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whip-round: ask the class to classify 2x + 3 + 5x — answer: binomial 7x + 3, not trinomial.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card-sort cards from Explore. The big surprise for many students is that 7 is a polynomial.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 clicking each bullet, ask students to pre-compute the degree.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same problem in vertical layout side-by-side. Students copy the version they prefer.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slip: forgetting to flip signs of the inner terms — only the leading sign. Walk slowly.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 idea: multiplication is just distribution applied repeatedly. FOIL is a memorisable subset for binomial × binomial.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the combine-like-terms step at the end (3x + 2x = 5x). Students often forget to combine.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 the degree rule: adding degrees is one of the most useful sanity checks for polynomial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Foreshadow the chapters on linear and quadratic equations: finding zeros is exactly the work of those chapters.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room. Watch for students who try to FOIL but forget to combine like terms — common slip.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show-of-fingers to gauge the room without singling anyone out. Address the question with the most disagreement.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with the 6 takeaways. Hand out the worksheet and announce the homework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Algebraic Expressions and Polynomials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Mathematics  ·  Algebraic Expressions and Polynomials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Identify variables, constants, terms, coefficients in any expression.</a:t>
            </a:r>
          </a:p>
          <a:p>
            <a:pPr/>
            <a:r>
              <a:rPr sz="2200"/>
              <a:t>Combine like terms; classify by number of terms.</a:t>
            </a:r>
          </a:p>
          <a:p>
            <a:pPr/>
            <a:r>
              <a:rPr sz="2200"/>
              <a:t>Decide if an expression is a polynomial; find its degree and standard form.</a:t>
            </a:r>
          </a:p>
          <a:p>
            <a:pPr/>
            <a:r>
              <a:rPr sz="2200"/>
              <a:t>Add, subtract and multiply polynomials.</a:t>
            </a:r>
          </a:p>
          <a:p>
            <a:pPr/>
            <a:r>
              <a:rPr sz="2200"/>
              <a:t>Evaluate a polynomial at a number; check if a value is a zero.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Vocabulary — variable, constant, term, coefficient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Variable: a letter that stands for a number (x, y, p…).</a:t>
            </a:r>
          </a:p>
          <a:p>
            <a:pPr/>
            <a:r>
              <a:rPr sz="2200"/>
              <a:t>Constant: a fixed number (3, −7, √2).</a:t>
            </a:r>
          </a:p>
          <a:p>
            <a:pPr/>
            <a:r>
              <a:rPr sz="2200"/>
              <a:t>Term: a part separated from others by + or −.</a:t>
            </a:r>
          </a:p>
          <a:p>
            <a:pPr/>
            <a:r>
              <a:rPr sz="2200"/>
              <a:t>Coefficient: the numerical factor of a term, with sign.</a:t>
            </a:r>
          </a:p>
          <a:p>
            <a:pPr/>
            <a:r>
              <a:rPr sz="2200"/>
              <a:t>Constant term: a term with no variable part (just a number).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Like terms and combining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Like terms have the same variable part.</a:t>
            </a:r>
          </a:p>
          <a:p>
            <a:pPr/>
            <a:r>
              <a:rPr sz="2200"/>
              <a:t>7x^2 and −4x^2 are like; 7x^2 and 7x are unlike.</a:t>
            </a:r>
          </a:p>
          <a:p>
            <a:pPr/>
            <a:r>
              <a:rPr sz="2200"/>
              <a:t>Combine like terms by adding/subtracting their coefficients.</a:t>
            </a:r>
          </a:p>
          <a:p>
            <a:pPr/>
            <a:r>
              <a:rPr sz="2200"/>
              <a:t>7x^2 + (−4x^2) = (7 − 4)x^2 = 3x^2.</a:t>
            </a:r>
          </a:p>
          <a:p>
            <a:pPr/>
            <a:r>
              <a:rPr sz="2200"/>
              <a:t>Unlike terms cannot be combined this way.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Classifying by number of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Monomial — exactly one term: 5x, −7p^3, 2/3.</a:t>
            </a:r>
          </a:p>
          <a:p>
            <a:pPr/>
            <a:r>
              <a:rPr sz="2200"/>
              <a:t>Binomial — two unlike terms: 3x + 5, p^2 − 7p.</a:t>
            </a:r>
          </a:p>
          <a:p>
            <a:pPr/>
            <a:r>
              <a:rPr sz="2200"/>
              <a:t>Trinomial — three unlike terms: x^2 + 3x − 2.</a:t>
            </a:r>
          </a:p>
          <a:p>
            <a:pPr/>
            <a:r>
              <a:rPr sz="2200"/>
              <a:t>Multinomial — more than three.</a:t>
            </a:r>
          </a:p>
          <a:p>
            <a:pPr/>
            <a:r>
              <a:rPr sz="2200"/>
              <a:t>Combine like terms first before counting.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polynomial?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Two rules: (i) only non-negative integer powers, (ii) no variable in any denominator.</a:t>
            </a:r>
          </a:p>
          <a:p>
            <a:pPr/>
            <a:r>
              <a:rPr sz="2200"/>
              <a:t>Polynomials: 7, 3x + 5, x^2 − 4x + 4, 2y^3 − y + 6.</a:t>
            </a:r>
          </a:p>
          <a:p>
            <a:pPr/>
            <a:r>
              <a:rPr sz="2200"/>
              <a:t>NOT polynomials: 3/x, √x, x^(−2) + 5, 2/(x + 1).</a:t>
            </a:r>
          </a:p>
          <a:p>
            <a:pPr/>
            <a:r>
              <a:rPr sz="2200"/>
              <a:t>Constants like 7 ARE polynomials (degree 0).</a:t>
            </a:r>
          </a:p>
          <a:p>
            <a:pPr/>
            <a:r>
              <a:rPr sz="2200"/>
              <a:t>Both rules must hold; one violation is enough to disqualify.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Degree of a polynomial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One variable: largest exponent (e.g. 5z^4 + z^2 − 1 has degree 4).</a:t>
            </a:r>
          </a:p>
          <a:p>
            <a:pPr/>
            <a:r>
              <a:rPr sz="2200"/>
              <a:t>Several variables: largest sum-of-exponents across terms.</a:t>
            </a:r>
          </a:p>
          <a:p>
            <a:pPr/>
            <a:r>
              <a:rPr sz="2200"/>
              <a:t>For 4xy + 7x^2 y^3: term degrees are 1+1=2 and 2+3=5; polynomial degree is 5.</a:t>
            </a:r>
          </a:p>
          <a:p>
            <a:pPr/>
            <a:r>
              <a:rPr sz="2200"/>
              <a:t>Names: 0 = constant, 1 = linear, 2 = quadratic, 3 = cubic, 4 = biquadratic.</a:t>
            </a:r>
          </a:p>
          <a:p>
            <a:pPr/>
            <a:r>
              <a:rPr sz="2200"/>
              <a:t>Standard form: terms in descending order of degree.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 example: add (3x^2 − 5x + 2) + (x^2 + 7x − 6)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Group like terms: (3x^2 + x^2) + (−5x + 7x) + (2 − 6).</a:t>
            </a:r>
          </a:p>
          <a:p>
            <a:pPr/>
            <a:r>
              <a:rPr sz="2200"/>
              <a:t>x^2 terms: 4x^2.</a:t>
            </a:r>
          </a:p>
          <a:p>
            <a:pPr/>
            <a:r>
              <a:rPr sz="2200"/>
              <a:t>x terms: 2x.</a:t>
            </a:r>
          </a:p>
          <a:p>
            <a:pPr/>
            <a:r>
              <a:rPr sz="2200"/>
              <a:t>Constants: −4.</a:t>
            </a:r>
          </a:p>
          <a:p>
            <a:pPr/>
            <a:r>
              <a:rPr sz="2200"/>
              <a:t>Sum = 4x^2 + 2x − 4.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Subtraction = flip signs, then add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To subtract a polynomial, change the sign of every term, then add.</a:t>
            </a:r>
          </a:p>
          <a:p>
            <a:pPr/>
            <a:r>
              <a:rPr sz="2200"/>
              <a:t>(3x^2 − 5x + 2) − (x^2 + 7x − 6) = (3x^2 − 5x + 2) + (−x^2 − 7x + 6).</a:t>
            </a:r>
          </a:p>
          <a:p>
            <a:pPr/>
            <a:r>
              <a:rPr sz="2200"/>
              <a:t>= 2x^2 − 12x + 8.</a:t>
            </a:r>
          </a:p>
          <a:p>
            <a:pPr/>
            <a:r>
              <a:rPr sz="2200"/>
              <a:t>The result is again a polynomial.</a:t>
            </a:r>
          </a:p>
          <a:p>
            <a:pPr/>
            <a:r>
              <a:rPr sz="2200"/>
              <a:t>Degree(sum or diff) ≤ max(deg p, deg q) (can drop if leading terms cancel).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Multiplying — distributive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a(b + c) = ab + ac.</a:t>
            </a:r>
          </a:p>
          <a:p>
            <a:pPr/>
            <a:r>
              <a:rPr sz="2200"/>
              <a:t>Every term of the first × every term of the second.</a:t>
            </a:r>
          </a:p>
          <a:p>
            <a:pPr/>
            <a:r>
              <a:rPr sz="2200"/>
              <a:t>Monomial × polynomial: 3x^2(2x + 5) = 6x^3 + 15x^2.</a:t>
            </a:r>
          </a:p>
          <a:p>
            <a:pPr/>
            <a:r>
              <a:rPr sz="2200"/>
              <a:t>Binomial × binomial: FOIL — First, Outer, Inner, Last.</a:t>
            </a:r>
          </a:p>
          <a:p>
            <a:pPr/>
            <a:r>
              <a:rPr sz="2200"/>
              <a:t>Long × long: vertical long-multiplication.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FOIL: (x + 2)(x + 3)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First: x · x = x^2.</a:t>
            </a:r>
          </a:p>
          <a:p>
            <a:pPr/>
            <a:r>
              <a:rPr sz="2200"/>
              <a:t>Outer: x · 3 = 3x.</a:t>
            </a:r>
          </a:p>
          <a:p>
            <a:pPr/>
            <a:r>
              <a:rPr sz="2200"/>
              <a:t>Inner: 2 · x = 2x.</a:t>
            </a:r>
          </a:p>
          <a:p>
            <a:pPr/>
            <a:r>
              <a:rPr sz="2200"/>
              <a:t>Last: 2 · 3 = 6.</a:t>
            </a:r>
          </a:p>
          <a:p>
            <a:pPr/>
            <a:r>
              <a:rPr sz="2200"/>
              <a:t>Sum: x^2 + 3x + 2x + 6 = x^2 + 5x + 6.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Vertical multiplication: (2x^2 − 3x + 1)(x − 4)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× x: 2x^3 − 3x^2 + x.</a:t>
            </a:r>
          </a:p>
          <a:p>
            <a:pPr/>
            <a:r>
              <a:rPr sz="2200"/>
              <a:t>× −4: −8x^2 + 12x − 4.</a:t>
            </a:r>
          </a:p>
          <a:p>
            <a:pPr/>
            <a:r>
              <a:rPr sz="2200"/>
              <a:t>Add: 2x^3 + (−3x^2 − 8x^2) + (x + 12x) + (−4).</a:t>
            </a:r>
          </a:p>
          <a:p>
            <a:pPr/>
            <a:r>
              <a:rPr sz="2200"/>
              <a:t>= 2x^3 − 11x^2 + 13x − 4.</a:t>
            </a:r>
          </a:p>
          <a:p>
            <a:pPr/>
            <a:r>
              <a:rPr sz="2200"/>
              <a:t>Degree(product) = 3 = 2 + 1 = deg p + deg q.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Evaluating a polynomial; zeros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p(a) is the number obtained by replacing x with a and simplifying.</a:t>
            </a:r>
          </a:p>
          <a:p>
            <a:pPr/>
            <a:r>
              <a:rPr sz="2200"/>
              <a:t>Example: p(x) = x^2 − 4x + 4, p(3) = 9 − 12 + 4 = 1.</a:t>
            </a:r>
          </a:p>
          <a:p>
            <a:pPr/>
            <a:r>
              <a:rPr sz="2200"/>
              <a:t>A zero (root) of p is an x with p(x) = 0.</a:t>
            </a:r>
          </a:p>
          <a:p>
            <a:pPr/>
            <a:r>
              <a:rPr sz="2200"/>
              <a:t>For p(x) = x^2 − 4x + 4, p(2) = 4 − 8 + 4 = 0, so x = 2 is a zero.</a:t>
            </a:r>
          </a:p>
          <a:p>
            <a:pPr/>
            <a:r>
              <a:rPr sz="2200"/>
              <a:t>A degree-n polynomial has at most n zeros (with multiplicity).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Classify 4xy + 7x^2 y^3 by number of terms; state its degree.</a:t>
            </a:r>
          </a:p>
          <a:p>
            <a:pPr/>
            <a:r>
              <a:rPr sz="2200"/>
              <a:t>2. Subtract (2y^2 − 3y + 5) from (5y^2 + y − 1).</a:t>
            </a:r>
          </a:p>
          <a:p>
            <a:pPr/>
            <a:r>
              <a:rPr sz="2200"/>
              <a:t>3. Expand (x − 4)(x + 6) using FOIL.</a:t>
            </a:r>
          </a:p>
          <a:p>
            <a:pPr/>
            <a:r>
              <a:rPr sz="2200"/>
              <a:t>4. Verify whether x = 1 is a zero of p(x) = x^3 − 1.</a:t>
            </a:r>
          </a:p>
          <a:p>
            <a:pPr/>
            <a:r>
              <a:rPr sz="2200"/>
              <a:t>Compare answers with your bench partner.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How many terms in 3x^2 + 5x − 7?</a:t>
            </a:r>
          </a:p>
          <a:p>
            <a:pPr/>
            <a:r>
              <a:rPr sz="2200"/>
              <a:t>Q2. Coefficient of x^2 in −x^2 + 4?</a:t>
            </a:r>
          </a:p>
          <a:p>
            <a:pPr/>
            <a:r>
              <a:rPr sz="2200"/>
              <a:t>Q3. Is x^(−2) + 1 a polynomial?</a:t>
            </a:r>
          </a:p>
          <a:p>
            <a:pPr/>
            <a:r>
              <a:rPr sz="2200"/>
              <a:t>Q4. Degree of (x + 1)(x^2 − 3)?</a:t>
            </a:r>
          </a:p>
          <a:p>
            <a:pPr/>
            <a:r>
              <a:rPr sz="2200"/>
              <a:t>Show your answers on fingers (1 = first option …).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Variable / constant / term / coefficient — the four-word vocabulary.</a:t>
            </a:r>
          </a:p>
          <a:p>
            <a:pPr/>
            <a:r>
              <a:rPr sz="2200"/>
              <a:t>Polynomial = whole-number powers + no variable in denominator.</a:t>
            </a:r>
          </a:p>
          <a:p>
            <a:pPr/>
            <a:r>
              <a:rPr sz="2200"/>
              <a:t>Degree = max exponent (1 var) or max sum-of-exponents (many vars).</a:t>
            </a:r>
          </a:p>
          <a:p>
            <a:pPr/>
            <a:r>
              <a:rPr sz="2200"/>
              <a:t>Add/subtract by combining like terms; subtraction flips signs first.</a:t>
            </a:r>
          </a:p>
          <a:p>
            <a:pPr/>
            <a:r>
              <a:rPr sz="2200"/>
              <a:t>Multiply by distributing; FOIL for binomials, vertical for long polynomials.</a:t>
            </a:r>
          </a:p>
          <a:p>
            <a:pPr/>
            <a:r>
              <a:rPr sz="2200"/>
              <a:t>Evaluate by substitution; a zero is an x making p(x) = 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