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Today we move from kinematics to dynamics — the why of motion. Newton's three laws are the cornerstone of classical mechanics.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each; ask which feels least comfortable.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bus-jolt example to link inertia of rest / motion to everyday observation.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'no force' is the natural state, not 'rest'. Galileo's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Demo: pull a cart with a spring scale, measure F, time the acceleration. Verify F = 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to airbag / catching a fast cricket ball.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horse–cart 'paradox': forces on horse vs forces on cart are different — analyse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with skateboards or low-friction carts before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the example, ask: 'Why are heavier rifles preferred for high-speed bullets?' (less recoil).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Tilt the inclined-plane demo until the block slips; that angle is the angle of repose.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with the wooden block. If you measure θ ≈ 25°, μ_s ≈ tan 25° ≈ 0.47.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room; common slip is forgetting kinetic vs static friction in question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most-disagreed item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5 takeaways. Hand out the worksheet and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Laws of Motion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12  ·  Physics  ·  Laws of Motion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State and apply Newton's three laws.</a:t>
            </a:r>
          </a:p>
          <a:p>
            <a:pPr/>
            <a:r>
              <a:rPr sz="2200"/>
              <a:t>Use F = ma and F = dp/dt for force / acceleration / momentum problems.</a:t>
            </a:r>
          </a:p>
          <a:p>
            <a:pPr/>
            <a:r>
              <a:rPr sz="2200"/>
              <a:t>Apply momentum conservation to recoil and collisions.</a:t>
            </a:r>
          </a:p>
          <a:p>
            <a:pPr/>
            <a:r>
              <a:rPr sz="2200"/>
              <a:t>Apply f_s ≤ μ_s N and f_k = μ_k N to friction problems.</a:t>
            </a:r>
          </a:p>
          <a:p>
            <a:pPr/>
            <a:r>
              <a:rPr sz="2200"/>
              <a:t>Solve inclined-plane and connected-body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Force and inertia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Force = vector push or pull.</a:t>
            </a:r>
          </a:p>
          <a:p>
            <a:pPr/>
            <a:r>
              <a:rPr sz="2200"/>
              <a:t>SI unit: newton (N) = kg·m/s².</a:t>
            </a:r>
          </a:p>
          <a:p>
            <a:pPr/>
            <a:r>
              <a:rPr sz="2200"/>
              <a:t>Inertia = resistance to change in motion. Mass measures inertia.</a:t>
            </a:r>
          </a:p>
          <a:p>
            <a:pPr/>
            <a:r>
              <a:rPr sz="2200"/>
              <a:t>Three kinds: rest, motion, direction.</a:t>
            </a:r>
          </a:p>
          <a:p>
            <a:pPr/>
            <a:r>
              <a:rPr sz="2200"/>
              <a:t>More mass → more inertia.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first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Body at rest stays at rest; body in uniform motion stays in uniform motion — unless a net force acts.</a:t>
            </a:r>
          </a:p>
          <a:p>
            <a:pPr/>
            <a:r>
              <a:rPr sz="2200"/>
              <a:t>Defines what a force is: anything that changes motion.</a:t>
            </a:r>
          </a:p>
          <a:p>
            <a:pPr/>
            <a:r>
              <a:rPr sz="2200"/>
              <a:t>Holds in inertial frames only.</a:t>
            </a:r>
          </a:p>
          <a:p>
            <a:pPr/>
            <a:r>
              <a:rPr sz="2200"/>
              <a:t>Friction explains why everyday objects slow down.</a:t>
            </a:r>
          </a:p>
          <a:p>
            <a:pPr/>
            <a:r>
              <a:rPr sz="2200"/>
              <a:t>Also called the law of inertia.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second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F_net = dp/dt; for constant mass: F = ma.</a:t>
            </a:r>
          </a:p>
          <a:p>
            <a:pPr/>
            <a:r>
              <a:rPr sz="2200"/>
              <a:t>1 N = 1 kg × 1 m/s² (definition).</a:t>
            </a:r>
          </a:p>
          <a:p>
            <a:pPr/>
            <a:r>
              <a:rPr sz="2200"/>
              <a:t>Doubling F doubles a (for fixed m).</a:t>
            </a:r>
          </a:p>
          <a:p>
            <a:pPr/>
            <a:r>
              <a:rPr sz="2200"/>
              <a:t>Free-body diagram is always step 1.</a:t>
            </a:r>
          </a:p>
          <a:p>
            <a:pPr/>
            <a:r>
              <a:rPr sz="2200"/>
              <a:t>Linear momentum p = mv (vector, kg·m/s).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Worked: impulse-momentum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Ball 0.1 kg, 20 m/s → caught in 0.05 s.</a:t>
            </a:r>
          </a:p>
          <a:p>
            <a:pPr/>
            <a:r>
              <a:rPr sz="2200"/>
              <a:t>Δp = m (v_f − v_i) = 0.1 × (0 − 20) = −2 kg·m/s.</a:t>
            </a:r>
          </a:p>
          <a:p>
            <a:pPr/>
            <a:r>
              <a:rPr sz="2200"/>
              <a:t>Impulse magnitude = 2 N·s.</a:t>
            </a:r>
          </a:p>
          <a:p>
            <a:pPr/>
            <a:r>
              <a:rPr sz="2200"/>
              <a:t>Average force = Δp/Δt = 2/0.05 = 40 N.</a:t>
            </a:r>
          </a:p>
          <a:p>
            <a:pPr/>
            <a:r>
              <a:rPr sz="2200"/>
              <a:t>Stretching catch (longer Δt) reduces peak force.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Newton's third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Action = −Reaction.</a:t>
            </a:r>
          </a:p>
          <a:p>
            <a:pPr/>
            <a:r>
              <a:rPr sz="2200"/>
              <a:t>Equal magnitude, opposite direction.</a:t>
            </a:r>
          </a:p>
          <a:p>
            <a:pPr/>
            <a:r>
              <a:rPr sz="2200"/>
              <a:t>Act on DIFFERENT bodies — they don't cancel.</a:t>
            </a:r>
          </a:p>
          <a:p>
            <a:pPr/>
            <a:r>
              <a:rPr sz="2200"/>
              <a:t>Examples: walking, recoil, rocket, swimming.</a:t>
            </a:r>
          </a:p>
          <a:p>
            <a:pPr/>
            <a:r>
              <a:rPr sz="2200"/>
              <a:t>Pairs are of the same kind (both contact, both gravity, etc.).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Conservation of linear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In an isolated system (no external net force), total p is constant.</a:t>
            </a:r>
          </a:p>
          <a:p>
            <a:pPr/>
            <a:r>
              <a:rPr sz="2200"/>
              <a:t>Follows from Newton's third law.</a:t>
            </a:r>
          </a:p>
          <a:p>
            <a:pPr/>
            <a:r>
              <a:rPr sz="2200"/>
              <a:t>Holds in any collision (elastic or inelastic).</a:t>
            </a:r>
          </a:p>
          <a:p>
            <a:pPr/>
            <a:r>
              <a:rPr sz="2200"/>
              <a:t>Recoil: m_g v_g = m_b v_b.</a:t>
            </a:r>
          </a:p>
          <a:p>
            <a:pPr/>
            <a:r>
              <a:rPr sz="2200"/>
              <a:t>Stick collision: m₁ u₁ + m₂ u₂ = (m₁ + m₂) 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Worked: gun recoil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Gun 2 kg, bullet 0.005 kg @ 500 m/s.</a:t>
            </a:r>
          </a:p>
          <a:p>
            <a:pPr/>
            <a:r>
              <a:rPr sz="2200"/>
              <a:t>Initial momentum = 0 (system at rest).</a:t>
            </a:r>
          </a:p>
          <a:p>
            <a:pPr/>
            <a:r>
              <a:rPr sz="2200"/>
              <a:t>After: 2 × v_g + 0.005 × 500 = 0 → v_g = −1.25 m/s.</a:t>
            </a:r>
          </a:p>
          <a:p>
            <a:pPr/>
            <a:r>
              <a:rPr sz="2200"/>
              <a:t>Gun recoils at 1.25 m/s opposite the bullet.</a:t>
            </a:r>
          </a:p>
          <a:p>
            <a:pPr/>
            <a:r>
              <a:rPr sz="2200"/>
              <a:t>Heavier gun → smaller recoil (good design).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Static: f_s ≤ μ_s N (adjusts to balance applied force).</a:t>
            </a:r>
          </a:p>
          <a:p>
            <a:pPr/>
            <a:r>
              <a:rPr sz="2200"/>
              <a:t>Kinetic: f_k = μ_k N (constant while sliding).</a:t>
            </a:r>
          </a:p>
          <a:p>
            <a:pPr/>
            <a:r>
              <a:rPr sz="2200"/>
              <a:t>μ_k &lt; μ_s for the same surfaces.</a:t>
            </a:r>
          </a:p>
          <a:p>
            <a:pPr/>
            <a:r>
              <a:rPr sz="2200"/>
              <a:t>Independent of contact area.</a:t>
            </a:r>
          </a:p>
          <a:p>
            <a:pPr/>
            <a:r>
              <a:rPr sz="2200"/>
              <a:t>Useful (walking, braking) AND harmful (energy loss, wear).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Worked: angle of repose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Block on incline; just on the verge of sliding.</a:t>
            </a:r>
          </a:p>
          <a:p>
            <a:pPr/>
            <a:r>
              <a:rPr sz="2200"/>
              <a:t>Along incline: mg sin θ_r = μ_s mg cos θ_r.</a:t>
            </a:r>
          </a:p>
          <a:p>
            <a:pPr/>
            <a:r>
              <a:rPr sz="2200"/>
              <a:t>tan θ_r = μ_s.</a:t>
            </a:r>
          </a:p>
          <a:p>
            <a:pPr/>
            <a:r>
              <a:rPr sz="2200"/>
              <a:t>Measure θ_r → get μ_s directly.</a:t>
            </a:r>
          </a:p>
          <a:p>
            <a:pPr/>
            <a:r>
              <a:rPr sz="2200"/>
              <a:t>A simple, robust experimental method.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F = 30 N on m = 5 kg with μ_k = 0.4. Find a.</a:t>
            </a:r>
          </a:p>
          <a:p>
            <a:pPr/>
            <a:r>
              <a:rPr sz="2200"/>
              <a:t>2. 0.2-kg ball 30 m/s rebounds at 25 m/s in 0.05 s. Find avg F.</a:t>
            </a:r>
          </a:p>
          <a:p>
            <a:pPr/>
            <a:r>
              <a:rPr sz="2200"/>
              <a:t>3. 80-kg skater throws 4-kg ball at 5 m/s. Find skater's recoil.</a:t>
            </a:r>
          </a:p>
          <a:p>
            <a:pPr/>
            <a:r>
              <a:rPr sz="2200"/>
              <a:t>4. Atwood: 5 kg &amp; 3 kg, find a and T.</a:t>
            </a:r>
          </a:p>
          <a:p>
            <a:pPr/>
            <a:r>
              <a:rPr sz="2200"/>
              <a:t>Compare with bench partner.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Action and reaction on the same body? T/F</a:t>
            </a:r>
          </a:p>
          <a:p>
            <a:pPr/>
            <a:r>
              <a:rPr sz="2200"/>
              <a:t>Q2. Friction is proportional to area? T/F</a:t>
            </a:r>
          </a:p>
          <a:p>
            <a:pPr/>
            <a:r>
              <a:rPr sz="2200"/>
              <a:t>Q3. μ_k vs μ_s — which is bigger?</a:t>
            </a:r>
          </a:p>
          <a:p>
            <a:pPr/>
            <a:r>
              <a:rPr sz="2200"/>
              <a:t>Q4. Atwood acceleration formula?</a:t>
            </a:r>
          </a:p>
          <a:p>
            <a:pPr/>
            <a:r>
              <a:rPr sz="2200"/>
              <a:t>Show on fingers.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1st law: no net force → no change in motion.</a:t>
            </a:r>
          </a:p>
          <a:p>
            <a:pPr/>
            <a:r>
              <a:rPr sz="2200"/>
              <a:t>2nd law: F = dp/dt = ma; impulse = Δp.</a:t>
            </a:r>
          </a:p>
          <a:p>
            <a:pPr/>
            <a:r>
              <a:rPr sz="2200"/>
              <a:t>3rd law: action ↔ reaction on different bodies.</a:t>
            </a:r>
          </a:p>
          <a:p>
            <a:pPr/>
            <a:r>
              <a:rPr sz="2200"/>
              <a:t>Momentum conserved in isolated systems.</a:t>
            </a:r>
          </a:p>
          <a:p>
            <a:pPr/>
            <a:r>
              <a:rPr sz="2200"/>
              <a:t>Friction: f_s ≤ μ_s N (static), f_k = μ_k N (kinetic), μ_k &lt; μ_s.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