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quick ball throw across the room to plant the question: what controls range and hang-time? Set up the chapter as the language (vectors) plus three classic problems (projectiles, circular motion, relative velocity).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these as the takeaways. Promise that by the end every student should be able to do each of these without looking back at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 the point that a vector has no 'home position' — it can be slid parallel to itself anywhere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resolution is the trick that makes everything in the chapter tractable. Component-wise we can use the 1D kinematic equations we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of getting the same answer — cosine rule and components. Pick the one that's faster in each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the opening demo — 30° vs 60° at the same speed give the same range, but very different times in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slowly the first time. Then ask students to redo it for θ = 60° and notice that T and H differ but R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with the string. Ask: 'if I let go, where does the stone go?' Tangentially — not radially outward.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this to why icy roads are dangerous in turns — μ collapses and the available friction drops below F_c.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pilots and boat captains do this every day. Tie it back to the vector resolution slide — same idea, different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quickly. Get the whole class engaged — make sure the answers are: displacement / 45° / gravity / (90°−θ) / v_A − v_B.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repeating the method line — that single recipe is the chapter's biggest gift to the rest of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Motion in a Plane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12  ·  NIOS Senior Secondary Physics  ·  Chapter 4: Motion in a Plane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Tell a vector from a scalar and resolve any vector into components.</a:t>
            </a:r>
          </a:p>
          <a:p>
            <a:pPr/>
            <a:r>
              <a:rPr sz="2200"/>
              <a:t>Add two vectors using the triangle / parallelogram law.</a:t>
            </a:r>
          </a:p>
          <a:p>
            <a:pPr/>
            <a:r>
              <a:rPr sz="2200"/>
              <a:t>Find T, H, R for any projectile and read the trajectory equation.</a:t>
            </a:r>
          </a:p>
          <a:p>
            <a:pPr/>
            <a:r>
              <a:rPr sz="2200"/>
              <a:t>Compute centripetal acceleration and force; name the source of F_c in real scenarios.</a:t>
            </a:r>
          </a:p>
          <a:p>
            <a:pPr/>
            <a:r>
              <a:rPr sz="2200"/>
              <a:t>Solve river-crossing and crosswind problems with relative velocity.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Scalars vs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Scalar: magnitude + unit only (mass, speed, energy).</a:t>
            </a:r>
          </a:p>
          <a:p>
            <a:pPr/>
            <a:r>
              <a:rPr sz="2200"/>
              <a:t>Vector: magnitude + direction (displacement, velocity, force).</a:t>
            </a:r>
          </a:p>
          <a:p>
            <a:pPr/>
            <a:r>
              <a:rPr sz="2200"/>
              <a:t>Vectors are drawn as arrows; length = magnitude, orientation = direction.</a:t>
            </a:r>
          </a:p>
          <a:p>
            <a:pPr/>
            <a:r>
              <a:rPr sz="2200"/>
              <a:t>Two vectors are equal only if magnitudes AND directions agree.</a:t>
            </a:r>
          </a:p>
          <a:p>
            <a:pPr/>
            <a:r>
              <a:rPr sz="2200"/>
              <a:t>Unit vectors î, ĵ, k̂ point along x, y, z and have magnitude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addition &amp;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Triangle law: tail-to-head; resultant from free tail to free head.</a:t>
            </a:r>
          </a:p>
          <a:p>
            <a:pPr/>
            <a:r>
              <a:rPr sz="2200"/>
              <a:t>Parallelogram law: same picture drawn as a parallelogram.</a:t>
            </a:r>
          </a:p>
          <a:p>
            <a:pPr/>
            <a:r>
              <a:rPr sz="2200"/>
              <a:t>Magnitude: R² = A² + B² + 2 A B cos θ.</a:t>
            </a:r>
          </a:p>
          <a:p>
            <a:pPr/>
            <a:r>
              <a:rPr sz="2200"/>
              <a:t>Direction: tan α = (B sin θ) / (A + B cos θ).</a:t>
            </a:r>
          </a:p>
          <a:p>
            <a:pPr/>
            <a:r>
              <a:rPr sz="2200"/>
              <a:t>Resolution: A_x = A cos θ, A_y = A sin θ — turns 2D into two 1Ds.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Example — resultant of 6 N and 8 N at 90°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Given: A = 6 N, B = 8 N, θ = 90°.</a:t>
            </a:r>
          </a:p>
          <a:p>
            <a:pPr/>
            <a:r>
              <a:rPr sz="2200"/>
              <a:t>R² = 36 + 64 + 0 = 100 ⇒ R = 10 N.</a:t>
            </a:r>
          </a:p>
          <a:p>
            <a:pPr/>
            <a:r>
              <a:rPr sz="2200"/>
              <a:t>tan α = 8 / 6 ⇒ α ≈ 53° from A.</a:t>
            </a:r>
          </a:p>
          <a:p>
            <a:pPr/>
            <a:r>
              <a:rPr sz="2200"/>
              <a:t>Could also write as 6î + 8ĵ; magnitude √(36+64) =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Projectile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Under gravity alone (no air resistance).</a:t>
            </a:r>
          </a:p>
          <a:p>
            <a:pPr/>
            <a:r>
              <a:rPr sz="2200"/>
              <a:t>u_x = u cos θ (constant); u_y = u sin θ (changing under g).</a:t>
            </a:r>
          </a:p>
          <a:p>
            <a:pPr/>
            <a:r>
              <a:rPr sz="2200"/>
              <a:t>Trajectory: y = x tan θ − g x² / (2 u² cos² θ) — a parabola.</a:t>
            </a:r>
          </a:p>
          <a:p>
            <a:pPr/>
            <a:r>
              <a:rPr sz="2200"/>
              <a:t>T = 2u sin θ / g,  H = u² sin² θ / (2g),  R = u² sin 2θ / g.</a:t>
            </a:r>
          </a:p>
          <a:p>
            <a:pPr/>
            <a:r>
              <a:rPr sz="2200"/>
              <a:t>Range maximum at θ = 45°.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Example — projectile at 20 m/s at 30°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 = 20 m/s, θ = 30°, g = 10 m/s².</a:t>
            </a:r>
          </a:p>
          <a:p>
            <a:pPr/>
            <a:r>
              <a:rPr sz="2200"/>
              <a:t>T = 2 × 20 × 0.5 / 10 = 2 s.</a:t>
            </a:r>
          </a:p>
          <a:p>
            <a:pPr/>
            <a:r>
              <a:rPr sz="2200"/>
              <a:t>H = 400 × 0.25 / 20 = 5 m.</a:t>
            </a:r>
          </a:p>
          <a:p>
            <a:pPr/>
            <a:r>
              <a:rPr sz="2200"/>
              <a:t>R = 400 × sin 60° / 10 = 20√3 ≈ 34.6 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Uniform circular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Constant SPEED on a circle; velocity direction keeps changing.</a:t>
            </a:r>
          </a:p>
          <a:p>
            <a:pPr/>
            <a:r>
              <a:rPr sz="2200"/>
              <a:t>Centripetal acceleration a_c = v² / r = ω² r, points toward centre.</a:t>
            </a:r>
          </a:p>
          <a:p>
            <a:pPr/>
            <a:r>
              <a:rPr sz="2200"/>
              <a:t>Centripetal force F_c = m v² / r — direction: toward centre.</a:t>
            </a:r>
          </a:p>
          <a:p>
            <a:pPr/>
            <a:r>
              <a:rPr sz="2200"/>
              <a:t>F_c is NOT a new force — it is supplied by tension / friction / gravity etc.</a:t>
            </a:r>
          </a:p>
          <a:p>
            <a:pPr/>
            <a:r>
              <a:rPr sz="2200"/>
              <a:t>No outward force in the lab frame; the outward 'feel' is inertia.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Example — car on a flat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Mass 1000 kg, radius 50 m, speed 15 m/s, μ = 0.5.</a:t>
            </a:r>
          </a:p>
          <a:p>
            <a:pPr/>
            <a:r>
              <a:rPr sz="2200"/>
              <a:t>Required F_c = m v² / r = 4500 N.</a:t>
            </a:r>
          </a:p>
          <a:p>
            <a:pPr/>
            <a:r>
              <a:rPr sz="2200"/>
              <a:t>Available friction = μ m g = 5000 N.</a:t>
            </a:r>
          </a:p>
          <a:p>
            <a:pPr/>
            <a:r>
              <a:rPr sz="2200"/>
              <a:t>4500 &lt; 5000 ⇒ car turns safely; v_max = √(μ g r) = √250 ≈ 15.8 m/s.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velocity in 2D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v_AB = v_A − v_B — a vector subtraction.</a:t>
            </a:r>
          </a:p>
          <a:p>
            <a:pPr/>
            <a:r>
              <a:rPr sz="2200"/>
              <a:t>River crossing — shortest TIME: head straight across.</a:t>
            </a:r>
          </a:p>
          <a:p>
            <a:pPr/>
            <a:r>
              <a:rPr sz="2200"/>
              <a:t>River crossing — shortest PATH: head upstream, sin θ = v_r / v_b.</a:t>
            </a:r>
          </a:p>
          <a:p>
            <a:pPr/>
            <a:r>
              <a:rPr sz="2200"/>
              <a:t>Crosswind: pilot crabs into the wind to fly straight.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 — 30 seconds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Which is a vector — mass / energy / displacement / temperature?</a:t>
            </a:r>
          </a:p>
          <a:p>
            <a:pPr/>
            <a:r>
              <a:rPr sz="2200"/>
              <a:t>Q2. At what angle is the projectile range maximum on level ground?</a:t>
            </a:r>
          </a:p>
          <a:p>
            <a:pPr/>
            <a:r>
              <a:rPr sz="2200"/>
              <a:t>Q3. The centripetal force on a satellite is supplied by ____.</a:t>
            </a:r>
          </a:p>
          <a:p>
            <a:pPr/>
            <a:r>
              <a:rPr sz="2200"/>
              <a:t>Q4. Two angles that give the same range as θ are θ and ____.</a:t>
            </a:r>
          </a:p>
          <a:p>
            <a:pPr/>
            <a:r>
              <a:rPr sz="2200"/>
              <a:t>Q5. v_AB = ____ in terms of v_A and v_B.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Resolve any 2D vector into components — that's how we tame 2D problems.</a:t>
            </a:r>
          </a:p>
          <a:p>
            <a:pPr/>
            <a:r>
              <a:rPr sz="2200"/>
              <a:t>Constant-a 2D motion = two independent 1D problems linked only by time.</a:t>
            </a:r>
          </a:p>
          <a:p>
            <a:pPr/>
            <a:r>
              <a:rPr sz="2200"/>
              <a:t>Projectile: parabolic path; T, H, R follow from the components.</a:t>
            </a:r>
          </a:p>
          <a:p>
            <a:pPr/>
            <a:r>
              <a:rPr sz="2200"/>
              <a:t>UCM: accelerated motion at constant speed; a_c = v² / r toward centre.</a:t>
            </a:r>
          </a:p>
          <a:p>
            <a:pPr/>
            <a:r>
              <a:rPr sz="2200"/>
              <a:t>Relative velocity in 2D is just a vector subtraction.</a:t>
            </a:r>
          </a:p>
          <a:p>
            <a:pPr/>
            <a:r>
              <a:rPr sz="2200"/>
              <a:t>Same method everywhere: choose frame → decompose → recompose.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