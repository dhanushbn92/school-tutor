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chemistry's foundation: how to write, balance, and classify reactions.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Mg ribbon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Mg + O₂ → MgO.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Foundational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types, three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more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energy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Energy direction.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Identify each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common metal corrosion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Food-chemistry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worksheet; announce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Chemical Reactions and Equations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Science  ·  Chemical Reactions and Equations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Spot indicators of a chemical reaction.</a:t>
            </a:r>
          </a:p>
          <a:p>
            <a:pPr/>
            <a:r>
              <a:rPr sz="2200"/>
              <a:t>Convert word equations to chemical equations.</a:t>
            </a:r>
          </a:p>
          <a:p>
            <a:pPr/>
            <a:r>
              <a:rPr sz="2200"/>
              <a:t>Balance any chemical equation.</a:t>
            </a:r>
          </a:p>
          <a:p>
            <a:pPr/>
            <a:r>
              <a:rPr sz="2200"/>
              <a:t>Classify reactions into 5 types.</a:t>
            </a:r>
          </a:p>
          <a:p>
            <a:pPr/>
            <a:r>
              <a:rPr sz="2200"/>
              <a:t>Identify oxidation, reduction, redox.</a:t>
            </a:r>
          </a:p>
          <a:p>
            <a:pPr/>
            <a:r>
              <a:rPr sz="2200"/>
              <a:t>Explain corrosion + rancidity + prevention.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has a reaction happened?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Colour change.</a:t>
            </a:r>
          </a:p>
          <a:p>
            <a:pPr/>
            <a:r>
              <a:rPr sz="2200"/>
              <a:t>Gas evolution (bubbles).</a:t>
            </a:r>
          </a:p>
          <a:p>
            <a:pPr/>
            <a:r>
              <a:rPr sz="2200"/>
              <a:t>Precipitate (solid forms).</a:t>
            </a:r>
          </a:p>
          <a:p>
            <a:pPr/>
            <a:r>
              <a:rPr sz="2200"/>
              <a:t>Temperature change.</a:t>
            </a:r>
          </a:p>
          <a:p>
            <a:pPr/>
            <a:r>
              <a:rPr sz="2200"/>
              <a:t>State change.</a:t>
            </a:r>
          </a:p>
          <a:p>
            <a:pPr/>
            <a:r>
              <a:rPr sz="2200"/>
              <a:t>Any of these = chemical reaction LIKELY.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Anatomy of a chemical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Reactants → Products.</a:t>
            </a:r>
          </a:p>
          <a:p>
            <a:pPr/>
            <a:r>
              <a:rPr sz="2200"/>
              <a:t>Reactants on the LEFT.</a:t>
            </a:r>
          </a:p>
          <a:p>
            <a:pPr/>
            <a:r>
              <a:rPr sz="2200"/>
              <a:t>Products on the RIGHT.</a:t>
            </a:r>
          </a:p>
          <a:p>
            <a:pPr/>
            <a:r>
              <a:rPr sz="2200"/>
              <a:t>Arrow → reads 'gives' or 'yields'.</a:t>
            </a:r>
          </a:p>
          <a:p>
            <a:pPr/>
            <a:r>
              <a:rPr sz="2200"/>
              <a:t>Symbols: (s) (l) (g) (aq), ↑ gas, ↓ ppt, Δ heat.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Law of Conservation of Mass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Atoms are NEVER created or destroyed.</a:t>
            </a:r>
          </a:p>
          <a:p>
            <a:pPr/>
            <a:r>
              <a:rPr sz="2200"/>
              <a:t>Same atoms on both sides → BALANCED equation.</a:t>
            </a:r>
          </a:p>
          <a:p>
            <a:pPr/>
            <a:r>
              <a:rPr sz="2200"/>
              <a:t>Use COEFFICIENTS to balance.</a:t>
            </a:r>
          </a:p>
          <a:p>
            <a:pPr/>
            <a:r>
              <a:rPr sz="2200"/>
              <a:t>NEVER change subscripts.</a:t>
            </a:r>
          </a:p>
          <a:p>
            <a:pPr/>
            <a:r>
              <a:rPr sz="2200"/>
              <a:t>Always count atoms after balancing.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Balance: 3 Fe + 4 H₂O → Fe₃O₄ + 4 H₂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Step 1: 3 Fe on each side.</a:t>
            </a:r>
          </a:p>
          <a:p>
            <a:pPr/>
            <a:r>
              <a:rPr sz="2200"/>
              <a:t>Step 2: 8 H from 4 H₂O.</a:t>
            </a:r>
          </a:p>
          <a:p>
            <a:pPr/>
            <a:r>
              <a:rPr sz="2200"/>
              <a:t>Step 3: 4 O from 4 H₂O = 4 O in Fe₃O₄.</a:t>
            </a:r>
          </a:p>
          <a:p>
            <a:pPr/>
            <a:r>
              <a:rPr sz="2200"/>
              <a:t>Step 4: 8 H from 4 H₂.</a:t>
            </a:r>
          </a:p>
          <a:p>
            <a:pPr/>
            <a:r>
              <a:rPr sz="2200"/>
              <a:t>Atoms balance ✓.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Reaction types — 1 to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COMBINATION: A + B → AB. (e.g. 2 Mg + O₂ → 2 MgO)</a:t>
            </a:r>
          </a:p>
          <a:p>
            <a:pPr/>
            <a:r>
              <a:rPr sz="2200"/>
              <a:t>2. DECOMPOSITION: AB → A + B. (e.g. 2 H₂O₂ → 2 H₂O + O₂)</a:t>
            </a:r>
          </a:p>
          <a:p>
            <a:pPr/>
            <a:r>
              <a:rPr sz="2200"/>
              <a:t>3. DISPLACEMENT: A + BC → AC + B. (e.g. Fe + CuSO₄ → FeSO₄ + Cu)</a:t>
            </a:r>
          </a:p>
          <a:p>
            <a:pPr/>
            <a:r>
              <a:rPr sz="2200"/>
              <a:t>More reactive metal displaces less reactive.</a:t>
            </a:r>
          </a:p>
          <a:p>
            <a:pPr/>
            <a:r>
              <a:rPr sz="2200"/>
              <a:t>Reactivity series tells you what works.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Reaction types — 4 and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4. DOUBLE DISPLACEMENT: AB + CD → AD + CB.</a:t>
            </a:r>
          </a:p>
          <a:p>
            <a:pPr/>
            <a:r>
              <a:rPr sz="2200"/>
              <a:t>Example: AgNO₃ + NaCl → AgCl↓ + NaNO₃.</a:t>
            </a:r>
          </a:p>
          <a:p>
            <a:pPr/>
            <a:r>
              <a:rPr sz="2200"/>
              <a:t>Often produces a precipitate.</a:t>
            </a:r>
          </a:p>
          <a:p>
            <a:pPr/>
            <a:r>
              <a:rPr sz="2200"/>
              <a:t>5. REDOX: oxidation + reduction together.</a:t>
            </a:r>
          </a:p>
          <a:p>
            <a:pPr/>
            <a:r>
              <a:rPr sz="2200"/>
              <a:t>Oxidation = gain of O / loss of H.</a:t>
            </a:r>
          </a:p>
          <a:p>
            <a:pPr/>
            <a:r>
              <a:rPr sz="2200"/>
              <a:t>Reduction = loss of O / gain of 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Decomposition — three sub-types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THERMAL — driven by heat. (CaCO₃ → CaO + CO₂)</a:t>
            </a:r>
          </a:p>
          <a:p>
            <a:pPr/>
            <a:r>
              <a:rPr sz="2200"/>
              <a:t>PHOTOCHEMICAL — driven by light. (2 AgCl → 2 Ag + Cl₂)</a:t>
            </a:r>
          </a:p>
          <a:p>
            <a:pPr/>
            <a:r>
              <a:rPr sz="2200"/>
              <a:t>ELECTROLYTIC — driven by electricity. (electrolysis of water)</a:t>
            </a:r>
          </a:p>
          <a:p>
            <a:pPr/>
            <a:r>
              <a:rPr sz="2200"/>
              <a:t>Decomposition is usually ENDOTHERMIC.</a:t>
            </a:r>
          </a:p>
          <a:p>
            <a:pPr/>
            <a:r>
              <a:rPr sz="2200"/>
              <a:t>Energy must be supplied to break things apart.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Energy in reactions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EXOTHERMIC: heat released. Surroundings warm.</a:t>
            </a:r>
          </a:p>
          <a:p>
            <a:pPr/>
            <a:r>
              <a:rPr sz="2200"/>
              <a:t>Examples: combustion, slaking of lime.</a:t>
            </a:r>
          </a:p>
          <a:p>
            <a:pPr/>
            <a:r>
              <a:rPr sz="2200"/>
              <a:t>ENDOTHERMIC: heat absorbed. Surroundings cool.</a:t>
            </a:r>
          </a:p>
          <a:p>
            <a:pPr/>
            <a:r>
              <a:rPr sz="2200"/>
              <a:t>Examples: photosynthesis, decomposition of CaCO₃.</a:t>
            </a:r>
          </a:p>
          <a:p>
            <a:pPr/>
            <a:r>
              <a:rPr sz="2200"/>
              <a:t>Combustion lighters / matches → exothermic.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Redox example: CuO + H₂ → Cu + H₂O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CuO loses O → REDUCED.</a:t>
            </a:r>
          </a:p>
          <a:p>
            <a:pPr/>
            <a:r>
              <a:rPr sz="2200"/>
              <a:t>H₂ gains O → OXIDISED.</a:t>
            </a:r>
          </a:p>
          <a:p>
            <a:pPr/>
            <a:r>
              <a:rPr sz="2200"/>
              <a:t>Both happen at the same time.</a:t>
            </a:r>
          </a:p>
          <a:p>
            <a:pPr/>
            <a:r>
              <a:rPr sz="2200"/>
              <a:t>Oxidising agent: CuO (provides O).</a:t>
            </a:r>
          </a:p>
          <a:p>
            <a:pPr/>
            <a:r>
              <a:rPr sz="2200"/>
              <a:t>Reducing agent: H₂ (takes 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Corrosion in everyday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Iron rusts (Fe₂O₃·xH₂O — orange-brown).</a:t>
            </a:r>
          </a:p>
          <a:p>
            <a:pPr/>
            <a:r>
              <a:rPr sz="2200"/>
              <a:t>Copper turns green (basic copper carbonate).</a:t>
            </a:r>
          </a:p>
          <a:p>
            <a:pPr/>
            <a:r>
              <a:rPr sz="2200"/>
              <a:t>Silver tarnishes (silver sulphide — black).</a:t>
            </a:r>
          </a:p>
          <a:p>
            <a:pPr/>
            <a:r>
              <a:rPr sz="2200"/>
              <a:t>Rusting needs BOTH oxygen and moisture.</a:t>
            </a:r>
          </a:p>
          <a:p>
            <a:pPr/>
            <a:r>
              <a:rPr sz="2200"/>
              <a:t>Coastal / humid areas rust faster.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Prevention of corrosion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Painting — physical barrier.</a:t>
            </a:r>
          </a:p>
          <a:p>
            <a:pPr/>
            <a:r>
              <a:rPr sz="2200"/>
              <a:t>Oiling / greasing — barrier.</a:t>
            </a:r>
          </a:p>
          <a:p>
            <a:pPr/>
            <a:r>
              <a:rPr sz="2200"/>
              <a:t>Galvanising (zinc coat) — sacrificial protection.</a:t>
            </a:r>
          </a:p>
          <a:p>
            <a:pPr/>
            <a:r>
              <a:rPr sz="2200"/>
              <a:t>Tin plating.</a:t>
            </a:r>
          </a:p>
          <a:p>
            <a:pPr/>
            <a:r>
              <a:rPr sz="2200"/>
              <a:t>Alloying — stainless steel (Fe + Cr + Ni).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Rancidity — oxidation in food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Oils / fats slowly oxidise → bad smell, taste.</a:t>
            </a:r>
          </a:p>
          <a:p>
            <a:pPr/>
            <a:r>
              <a:rPr sz="2200"/>
              <a:t>Prevention: airtight packaging.</a:t>
            </a:r>
          </a:p>
          <a:p>
            <a:pPr/>
            <a:r>
              <a:rPr sz="2200"/>
              <a:t>Antioxidants (BHA, BHT).</a:t>
            </a:r>
          </a:p>
          <a:p>
            <a:pPr/>
            <a:r>
              <a:rPr sz="2200"/>
              <a:t>Refrigeration slows oxidation.</a:t>
            </a:r>
          </a:p>
          <a:p>
            <a:pPr/>
            <a:r>
              <a:rPr sz="2200"/>
              <a:t>Nitrogen flushing in chip packets.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Balance: NH₃ + O₂ → NO + H₂O.</a:t>
            </a:r>
          </a:p>
          <a:p>
            <a:pPr/>
            <a:r>
              <a:rPr sz="2200"/>
              <a:t>2. Classify: Zn + 2 HCl → ZnCl₂ + H₂.</a:t>
            </a:r>
          </a:p>
          <a:p>
            <a:pPr/>
            <a:r>
              <a:rPr sz="2200"/>
              <a:t>3. In CuO + H₂ → Cu + H₂O, what is oxidised?</a:t>
            </a:r>
          </a:p>
          <a:p>
            <a:pPr/>
            <a:r>
              <a:rPr sz="2200"/>
              <a:t>4. Why is silver chloride stored in dark bottles?</a:t>
            </a:r>
          </a:p>
          <a:p>
            <a:pPr/>
            <a:r>
              <a:rPr sz="2200"/>
              <a:t>5. Two methods to prevent rust on a bicycle.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What does Δ above the arrow mean?</a:t>
            </a:r>
          </a:p>
          <a:p>
            <a:pPr/>
            <a:r>
              <a:rPr sz="2200"/>
              <a:t>Q2. Type: 2 KClO₃ → 2 KCl + 3 O₂?</a:t>
            </a:r>
          </a:p>
          <a:p>
            <a:pPr/>
            <a:r>
              <a:rPr sz="2200"/>
              <a:t>Q3. Oxidation = gain of __?</a:t>
            </a:r>
          </a:p>
          <a:p>
            <a:pPr/>
            <a:r>
              <a:rPr sz="2200"/>
              <a:t>Q4. Reactivity series — Fe vs Cu, who's more reactive?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Reactions: indicators → balanced equation → classification.</a:t>
            </a:r>
          </a:p>
          <a:p>
            <a:pPr/>
            <a:r>
              <a:rPr sz="2200"/>
              <a:t>5 types: combination / decomposition / displacement / double displacement / redox.</a:t>
            </a:r>
          </a:p>
          <a:p>
            <a:pPr/>
            <a:r>
              <a:rPr sz="2200"/>
              <a:t>Decomposition: thermal / photochemical / electrolytic.</a:t>
            </a:r>
          </a:p>
          <a:p>
            <a:pPr/>
            <a:r>
              <a:rPr sz="2200"/>
              <a:t>Reactivity series predicts displacement.</a:t>
            </a:r>
          </a:p>
          <a:p>
            <a:pPr/>
            <a:r>
              <a:rPr sz="2200"/>
              <a:t>Oxidation = gain of O; reduction = loss of O.</a:t>
            </a:r>
          </a:p>
          <a:p>
            <a:pPr/>
            <a:r>
              <a:rPr sz="2200"/>
              <a:t>Corrosion + rancidity = oxidation in everyday life; prevent with barriers and antioxidants.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