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mean to be developed?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 + plurality.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Plural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World Bank 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Public goods + equity.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indicators.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Indian states puzzle.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HDI defined.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Sustainability concept.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Concrete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and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 most-missed.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out worksheet.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10  ·  Social Science (Economics)  · 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— What you'll be able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Explain why development goals differ.</a:t>
            </a:r>
          </a:p>
          <a:p>
            <a:pPr/>
            <a:r>
              <a:rPr sz="2200"/>
              <a:t>Use per capita income to compare countries.</a:t>
            </a:r>
          </a:p>
          <a:p>
            <a:pPr/>
            <a:r>
              <a:rPr sz="2200"/>
              <a:t>List 3 limits of using income alone.</a:t>
            </a:r>
          </a:p>
          <a:p>
            <a:pPr/>
            <a:r>
              <a:rPr sz="2200"/>
              <a:t>Describe the role of public facilities.</a:t>
            </a:r>
          </a:p>
          <a:p>
            <a:pPr/>
            <a:r>
              <a:rPr sz="2200"/>
              <a:t>Use IMR / literacy / life expectancy to compare states.</a:t>
            </a:r>
          </a:p>
          <a:p>
            <a:pPr/>
            <a:r>
              <a:rPr sz="2200"/>
              <a:t>Explain the HDI and sustainability.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means different things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Different people have different goals.</a:t>
            </a:r>
          </a:p>
          <a:p>
            <a:pPr/>
            <a:r>
              <a:rPr sz="2200"/>
              <a:t>Goals can even CONFLICT (dam vs displaced family).</a:t>
            </a:r>
          </a:p>
          <a:p>
            <a:pPr/>
            <a:r>
              <a:rPr sz="2200"/>
              <a:t>Mix of MATERIAL and NON-MATERIAL needs.</a:t>
            </a:r>
          </a:p>
          <a:p>
            <a:pPr/>
            <a:r>
              <a:rPr sz="2200"/>
              <a:t>Money + freedom + safety + dignity + environment.</a:t>
            </a:r>
          </a:p>
          <a:p>
            <a:pPr/>
            <a:r>
              <a:rPr sz="2200"/>
              <a:t>Even the rich want non-material things.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What does each person want?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Landless labourer — more days of work + higher wage.</a:t>
            </a:r>
          </a:p>
          <a:p>
            <a:pPr/>
            <a:r>
              <a:rPr sz="2200"/>
              <a:t>Punjab farmer — better minimum prices + reliable electricity.</a:t>
            </a:r>
          </a:p>
          <a:p>
            <a:pPr/>
            <a:r>
              <a:rPr sz="2200"/>
              <a:t>Adivasi — protect land, forest, culture.</a:t>
            </a:r>
          </a:p>
          <a:p>
            <a:pPr/>
            <a:r>
              <a:rPr sz="2200"/>
              <a:t>Working woman — safe workplace + skills + loans.</a:t>
            </a:r>
          </a:p>
          <a:p>
            <a:pPr/>
            <a:r>
              <a:rPr sz="2200"/>
              <a:t>Urban youth — a job that lasts.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Comparing countries — per capita income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Total income depends on population.</a:t>
            </a:r>
          </a:p>
          <a:p>
            <a:pPr/>
            <a:r>
              <a:rPr sz="2200"/>
              <a:t>Per capita = total income ÷ population.</a:t>
            </a:r>
          </a:p>
          <a:p>
            <a:pPr/>
            <a:r>
              <a:rPr sz="2200"/>
              <a:t>World Bank groups: HIGH / MIDDLE / LOW.</a:t>
            </a:r>
          </a:p>
          <a:p>
            <a:pPr/>
            <a:r>
              <a:rPr sz="2200"/>
              <a:t>India is in LOW-MIDDLE income group.</a:t>
            </a:r>
          </a:p>
          <a:p>
            <a:pPr/>
            <a:r>
              <a:rPr sz="2200"/>
              <a:t>Thresholds revised over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Limits of per capita income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Hides INEQUALITY — same average ≠ same lives.</a:t>
            </a:r>
          </a:p>
          <a:p>
            <a:pPr/>
            <a:r>
              <a:rPr sz="2200"/>
              <a:t>Public goods cannot be bought individually.</a:t>
            </a:r>
          </a:p>
          <a:p>
            <a:pPr/>
            <a:r>
              <a:rPr sz="2200"/>
              <a:t>Non-material goals not captured.</a:t>
            </a:r>
          </a:p>
          <a:p>
            <a:pPr/>
            <a:r>
              <a:rPr sz="2200"/>
              <a:t>Some things money can't buy.</a:t>
            </a:r>
          </a:p>
          <a:p>
            <a:pPr/>
            <a:r>
              <a:rPr sz="2200"/>
              <a:t>Hence: complementary indicators needed.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Public facilities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Government-provided schools, hospitals, water, electricity.</a:t>
            </a:r>
          </a:p>
          <a:p>
            <a:pPr/>
            <a:r>
              <a:rPr sz="2200"/>
              <a:t>Most important for the POOR.</a:t>
            </a:r>
          </a:p>
          <a:p>
            <a:pPr/>
            <a:r>
              <a:rPr sz="2200"/>
              <a:t>Rich can sometimes buy private alternatives.</a:t>
            </a:r>
          </a:p>
          <a:p>
            <a:pPr/>
            <a:r>
              <a:rPr sz="2200"/>
              <a:t>Provide a LEVEL PLAYING FIELD.</a:t>
            </a:r>
          </a:p>
          <a:p>
            <a:pPr/>
            <a:r>
              <a:rPr sz="2200"/>
              <a:t>Raise quality of life for everyone.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Indicators beyond income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IMR — children dying per 1000 live births.</a:t>
            </a:r>
          </a:p>
          <a:p>
            <a:pPr/>
            <a:r>
              <a:rPr sz="2200"/>
              <a:t>Literacy rate (age 7+).</a:t>
            </a:r>
          </a:p>
          <a:p>
            <a:pPr/>
            <a:r>
              <a:rPr sz="2200"/>
              <a:t>Net Attendance Ratio (age 6–10).</a:t>
            </a:r>
          </a:p>
          <a:p>
            <a:pPr/>
            <a:r>
              <a:rPr sz="2200"/>
              <a:t>Life Expectancy at birth.</a:t>
            </a:r>
          </a:p>
          <a:p>
            <a:pPr/>
            <a:r>
              <a:rPr sz="2200"/>
              <a:t>Use them TOGETHER for a fuller picture.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Kerala vs Haryana — the puzzle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PCI: Haryana &gt; Kerala.</a:t>
            </a:r>
          </a:p>
          <a:p>
            <a:pPr/>
            <a:r>
              <a:rPr sz="2200"/>
              <a:t>IMR: Kerala ~7; Haryana ~30 — Kerala wins.</a:t>
            </a:r>
          </a:p>
          <a:p>
            <a:pPr/>
            <a:r>
              <a:rPr sz="2200"/>
              <a:t>Literacy: Kerala highest.</a:t>
            </a:r>
          </a:p>
          <a:p>
            <a:pPr/>
            <a:r>
              <a:rPr sz="2200"/>
              <a:t>Net attendance: Kerala highest.</a:t>
            </a:r>
          </a:p>
          <a:p>
            <a:pPr/>
            <a:r>
              <a:rPr sz="2200"/>
              <a:t>Why? Kerala invested more in public health + education.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 Development Index (HDI)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Published by UNDP, every year.</a:t>
            </a:r>
          </a:p>
          <a:p>
            <a:pPr/>
            <a:r>
              <a:rPr sz="2200"/>
              <a:t>Combines: per capita income + life expectancy + schooling.</a:t>
            </a:r>
          </a:p>
          <a:p>
            <a:pPr/>
            <a:r>
              <a:rPr sz="2200"/>
              <a:t>Value 0 to 1.</a:t>
            </a:r>
          </a:p>
          <a:p>
            <a:pPr/>
            <a:r>
              <a:rPr sz="2200"/>
              <a:t>India ~0.63 (medium); top countries ~0.96.</a:t>
            </a:r>
          </a:p>
          <a:p>
            <a:pPr/>
            <a:r>
              <a:rPr sz="2200"/>
              <a:t>Sri Lanka has higher HDI than India.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Sustainability — Brundtland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Meet PRESENT needs without compromising the future.</a:t>
            </a:r>
          </a:p>
          <a:p>
            <a:pPr/>
            <a:r>
              <a:rPr sz="2200"/>
              <a:t>Resources are finite — non-renewables especially.</a:t>
            </a:r>
          </a:p>
          <a:p>
            <a:pPr/>
            <a:r>
              <a:rPr sz="2200"/>
              <a:t>Three big concerns in India:</a:t>
            </a:r>
          </a:p>
          <a:p>
            <a:pPr/>
            <a:r>
              <a:rPr sz="2200"/>
              <a:t>Groundwater + crude oil + forests.</a:t>
            </a:r>
          </a:p>
          <a:p>
            <a:pPr/>
            <a:r>
              <a:rPr sz="2200"/>
              <a:t>Future generations have rights too.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Three sustainability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GROUNDWATER — India largest extractor; wells drying.</a:t>
            </a:r>
          </a:p>
          <a:p>
            <a:pPr/>
            <a:r>
              <a:rPr sz="2200"/>
              <a:t>CRUDE OIL — only 35–40 years left at current rates.</a:t>
            </a:r>
          </a:p>
          <a:p>
            <a:pPr/>
            <a:r>
              <a:rPr sz="2200"/>
              <a:t>FORESTS — cutting reduces rain, biodiversity, soil.</a:t>
            </a:r>
          </a:p>
          <a:p>
            <a:pPr/>
            <a:r>
              <a:rPr sz="2200"/>
              <a:t>Climate change crosses borders.</a:t>
            </a:r>
          </a:p>
          <a:p>
            <a:pPr/>
            <a:r>
              <a:rPr sz="2200"/>
              <a:t>Solution: cooperate, not compete.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— You try (5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1. Define per capita income.</a:t>
            </a:r>
          </a:p>
          <a:p>
            <a:pPr/>
            <a:r>
              <a:rPr sz="2200"/>
              <a:t>2. Three limits of income as a measure.</a:t>
            </a:r>
          </a:p>
          <a:p>
            <a:pPr/>
            <a:r>
              <a:rPr sz="2200"/>
              <a:t>3. Why does Kerala have lower IMR than Haryana?</a:t>
            </a:r>
          </a:p>
          <a:p>
            <a:pPr/>
            <a:r>
              <a:rPr sz="2200"/>
              <a:t>4. Three components of HDI.</a:t>
            </a:r>
          </a:p>
          <a:p>
            <a:pPr/>
            <a:r>
              <a:rPr sz="2200"/>
              <a:t>5. One groundwater concern in your state.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 — Quick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Q1. World Bank groups countries on?</a:t>
            </a:r>
          </a:p>
          <a:p>
            <a:pPr/>
            <a:r>
              <a:rPr sz="2200"/>
              <a:t>Q2. India's HDI band?</a:t>
            </a:r>
          </a:p>
          <a:p>
            <a:pPr/>
            <a:r>
              <a:rPr sz="2200"/>
              <a:t>Q3. Best development indicator: IMR or PCI?</a:t>
            </a:r>
          </a:p>
          <a:p>
            <a:pPr/>
            <a:r>
              <a:rPr sz="2200"/>
              <a:t>Q4. Sustainable development means?</a:t>
            </a:r>
          </a:p>
          <a:p>
            <a:pPr/>
            <a:r>
              <a:rPr sz="2200"/>
              <a:t>Show fingers.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Development is plural — material + non-material goals.</a:t>
            </a:r>
          </a:p>
          <a:p>
            <a:pPr/>
            <a:r>
              <a:rPr sz="2200"/>
              <a:t>Per capita income compares countries; World Bank: high / middle / low.</a:t>
            </a:r>
          </a:p>
          <a:p>
            <a:pPr/>
            <a:r>
              <a:rPr sz="2200"/>
              <a:t>Income alone hides inequality and ignores public goods.</a:t>
            </a:r>
          </a:p>
          <a:p>
            <a:pPr/>
            <a:r>
              <a:rPr sz="2200"/>
              <a:t>Public facilities matter most for the poor.</a:t>
            </a:r>
          </a:p>
          <a:p>
            <a:pPr/>
            <a:r>
              <a:rPr sz="2200"/>
              <a:t>IMR / literacy / NAR / life expectancy complete the picture.</a:t>
            </a:r>
          </a:p>
          <a:p>
            <a:pPr/>
            <a:r>
              <a:rPr sz="2200"/>
              <a:t>HDI = income + life expectancy + schooling.</a:t>
            </a:r>
          </a:p>
          <a:p>
            <a:pPr/>
            <a:r>
              <a:rPr sz="2200"/>
              <a:t>Sustainability is essential — groundwater, oil, forests, climate.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