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We start kinematics — the description of motion. Today's chapter sets up the precise vocabulary and three workhorse equations that the next chapters keep 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objective. Ask which feels least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50-m east → 30-m west example: distance = 80 m, displacement = 20 m 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a curved x–t graph and draw a tangent at one point to make the slope-of-tangent picture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independence: a body moving in +x can be slowing down (v &gt; 0, a &lt;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slowly; show that the third comes from eliminating t between the first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routes converge — useful as a sanity check on board-exam-style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Symmetry: speeds at launch and return are equal. Apex is the v=0 instant, but a ≠ 0!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the body still has a = −g at the apex even though v = 0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best diagnostic tools in board exams. Make sure students can do the slope-and-area calculations on a printed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forget to add the rectangle's area. Stress 'area under graph' = displacement.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common slip is forgetting g acts at the apex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show-of-fingers. Address the most-disagreed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takeaways. Hand out the worksheet and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Motion in a Straight 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12  ·  Physics  ·  Motion in a Straight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Distinguish distance from displacement.</a:t>
            </a:r>
          </a:p>
          <a:p>
            <a:pPr/>
            <a:r>
              <a:rPr sz="2200"/>
              <a:t>Compute average / instantaneous velocity and acceleration.</a:t>
            </a:r>
          </a:p>
          <a:p>
            <a:pPr/>
            <a:r>
              <a:rPr sz="2200"/>
              <a:t>Apply the three kinematic equations.</a:t>
            </a:r>
          </a:p>
          <a:p>
            <a:pPr/>
            <a:r>
              <a:rPr sz="2200"/>
              <a:t>Solve free-fall problems (max height, time of flight, return velocity).</a:t>
            </a:r>
          </a:p>
          <a:p>
            <a:pPr/>
            <a:r>
              <a:rPr sz="2200"/>
              <a:t>Read motion off x–t and v–t graphs.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Position, distance,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Position x = signed coordinate from a chosen origin.</a:t>
            </a:r>
          </a:p>
          <a:p>
            <a:pPr/>
            <a:r>
              <a:rPr sz="2200"/>
              <a:t>Distance: total path length (scalar, ≥ 0).</a:t>
            </a:r>
          </a:p>
          <a:p>
            <a:pPr/>
            <a:r>
              <a:rPr sz="2200"/>
              <a:t>Displacement: x_final − x_initial (vector in 1D).</a:t>
            </a:r>
          </a:p>
          <a:p>
            <a:pPr/>
            <a:r>
              <a:rPr sz="2200"/>
              <a:t>Distance ≥ |displacement|; equality only for unidirectional motion.</a:t>
            </a:r>
          </a:p>
          <a:p>
            <a:pPr/>
            <a:r>
              <a:rPr sz="2200"/>
              <a:t>Both have SI unit metre.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Velocity and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Average velocity = Δx / Δt; average speed = total distance / total time.</a:t>
            </a:r>
          </a:p>
          <a:p>
            <a:pPr/>
            <a:r>
              <a:rPr sz="2200"/>
              <a:t>Instantaneous velocity v(t) = dx/dt.</a:t>
            </a:r>
          </a:p>
          <a:p>
            <a:pPr/>
            <a:r>
              <a:rPr sz="2200"/>
              <a:t>Geometrically: slope of x–t graph at that instant.</a:t>
            </a:r>
          </a:p>
          <a:p>
            <a:pPr/>
            <a:r>
              <a:rPr sz="2200"/>
              <a:t>|average velocity| equals average speed only for unidirectional motion.</a:t>
            </a:r>
          </a:p>
          <a:p>
            <a:pPr/>
            <a:r>
              <a:rPr sz="2200"/>
              <a:t>SI: m/s.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Average a = (v − u) / Δt.</a:t>
            </a:r>
          </a:p>
          <a:p>
            <a:pPr/>
            <a:r>
              <a:rPr sz="2200"/>
              <a:t>Instantaneous a = dv/dt = slope of v–t graph.</a:t>
            </a:r>
          </a:p>
          <a:p>
            <a:pPr/>
            <a:r>
              <a:rPr sz="2200"/>
              <a:t>Uniform a: constant magnitude AND direction.</a:t>
            </a:r>
          </a:p>
          <a:p>
            <a:pPr/>
            <a:r>
              <a:rPr sz="2200"/>
              <a:t>Sign of a is independent of sign of v.</a:t>
            </a:r>
          </a:p>
          <a:p>
            <a:pPr/>
            <a:r>
              <a:rPr sz="2200"/>
              <a:t>SI: m/s².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kinematic equations (constant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 = u + at</a:t>
            </a:r>
          </a:p>
          <a:p>
            <a:pPr/>
            <a:r>
              <a:rPr sz="2200"/>
              <a:t>s = ut + (1/2) a t²</a:t>
            </a:r>
          </a:p>
          <a:p>
            <a:pPr/>
            <a:r>
              <a:rPr sz="2200"/>
              <a:t>v² = u² + 2 a s</a:t>
            </a:r>
          </a:p>
          <a:p>
            <a:pPr/>
            <a:r>
              <a:rPr sz="2200"/>
              <a:t>Apply ONLY when a is constant.</a:t>
            </a:r>
          </a:p>
          <a:p>
            <a:pPr/>
            <a:r>
              <a:rPr sz="2200"/>
              <a:t>s here is displacement, not distance.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car decelerating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 = 25 m/s, decelerates uniformly to rest in 10 s.</a:t>
            </a:r>
          </a:p>
          <a:p>
            <a:pPr/>
            <a:r>
              <a:rPr sz="2200"/>
              <a:t>a = (0 − 25)/10 = −2.5 m/s².</a:t>
            </a:r>
          </a:p>
          <a:p>
            <a:pPr/>
            <a:r>
              <a:rPr sz="2200"/>
              <a:t>Stopping distance: s = (u + v)/2 × t = 12.5 × 10 = 125 m.</a:t>
            </a:r>
          </a:p>
          <a:p>
            <a:pPr/>
            <a:r>
              <a:rPr sz="2200"/>
              <a:t>Check: s = ut + ½at² = 250 − 125 = 125 m ✓.</a:t>
            </a:r>
          </a:p>
          <a:p>
            <a:pPr/>
            <a:r>
              <a:rPr sz="2200"/>
              <a:t>Either approach gives the same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Near Earth: a = g ≈ 9.8 m/s² downward.</a:t>
            </a:r>
          </a:p>
          <a:p>
            <a:pPr/>
            <a:r>
              <a:rPr sz="2200"/>
              <a:t>Take 'up' as +; then a = −g.</a:t>
            </a:r>
          </a:p>
          <a:p>
            <a:pPr/>
            <a:r>
              <a:rPr sz="2200"/>
              <a:t>Time to apex t_up = u / g.</a:t>
            </a:r>
          </a:p>
          <a:p>
            <a:pPr/>
            <a:r>
              <a:rPr sz="2200"/>
              <a:t>Max height h_max = u² / (2 g).</a:t>
            </a:r>
          </a:p>
          <a:p>
            <a:pPr/>
            <a:r>
              <a:rPr sz="2200"/>
              <a:t>Time of flight back to launch: 2 u / 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vertical throw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 = 25 m/s, g = 10 m/s².</a:t>
            </a:r>
          </a:p>
          <a:p>
            <a:pPr/>
            <a:r>
              <a:rPr sz="2200"/>
              <a:t>Time to apex: 25/10 = 2.5 s.</a:t>
            </a:r>
          </a:p>
          <a:p>
            <a:pPr/>
            <a:r>
              <a:rPr sz="2200"/>
              <a:t>Max height: 625/20 = 31.25 m.</a:t>
            </a:r>
          </a:p>
          <a:p>
            <a:pPr/>
            <a:r>
              <a:rPr sz="2200"/>
              <a:t>Time of flight: 5 s.</a:t>
            </a:r>
          </a:p>
          <a:p>
            <a:pPr/>
            <a:r>
              <a:rPr sz="2200"/>
              <a:t>Velocity at t = 1.5 s: 25 − 15 = 10 m/s (still up).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motion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x–t graph: slope = velocity. Horizontal = at rest.</a:t>
            </a:r>
          </a:p>
          <a:p>
            <a:pPr/>
            <a:r>
              <a:rPr sz="2200"/>
              <a:t>v–t graph: slope = acceleration; area under = displacement.</a:t>
            </a:r>
          </a:p>
          <a:p>
            <a:pPr/>
            <a:r>
              <a:rPr sz="2200"/>
              <a:t>Straight, sloping x–t = uniform velocity.</a:t>
            </a:r>
          </a:p>
          <a:p>
            <a:pPr/>
            <a:r>
              <a:rPr sz="2200"/>
              <a:t>Straight, sloping v–t = uniform acceleration.</a:t>
            </a:r>
          </a:p>
          <a:p>
            <a:pPr/>
            <a:r>
              <a:rPr sz="2200"/>
              <a:t>v–t crossing the time axis = direction reversal.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v–t graph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v–t: straight from (0,0) to (8, 16), then horizontal to (12, 16).</a:t>
            </a:r>
          </a:p>
          <a:p>
            <a:pPr/>
            <a:r>
              <a:rPr sz="2200"/>
              <a:t>Acceleration in first 8 s: 16/8 = 2 m/s².</a:t>
            </a:r>
          </a:p>
          <a:p>
            <a:pPr/>
            <a:r>
              <a:rPr sz="2200"/>
              <a:t>Total displacement: triangle (½·8·16=64) + rectangle (4·16=64) = 128 m.</a:t>
            </a:r>
          </a:p>
          <a:p>
            <a:pPr/>
            <a:r>
              <a:rPr sz="2200"/>
              <a:t>Acceleration in last 4 s: zero (horizontal segment).</a:t>
            </a:r>
          </a:p>
          <a:p>
            <a:pPr/>
            <a:r>
              <a:rPr sz="2200"/>
              <a:t>Total time: 12 s, average speed = 128/12 ≈ 10.67 m/s.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A ball is dropped from 80 m. Time to ground (g = 10).</a:t>
            </a:r>
          </a:p>
          <a:p>
            <a:pPr/>
            <a:r>
              <a:rPr sz="2200"/>
              <a:t>2. A car decelerates from 30 m/s to 10 m/s in 200 m. Find a.</a:t>
            </a:r>
          </a:p>
          <a:p>
            <a:pPr/>
            <a:r>
              <a:rPr sz="2200"/>
              <a:t>3. v–t straight from (0, 5) to (4, 25). Find acceleration and displacement.</a:t>
            </a:r>
          </a:p>
          <a:p>
            <a:pPr/>
            <a:r>
              <a:rPr sz="2200"/>
              <a:t>4. State the formula for h_max for a vertical throw.</a:t>
            </a:r>
          </a:p>
          <a:p>
            <a:pPr/>
            <a:r>
              <a:rPr sz="2200"/>
              <a:t>Compare with your bench partner.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Distance and displacement equal? When?</a:t>
            </a:r>
          </a:p>
          <a:p>
            <a:pPr/>
            <a:r>
              <a:rPr sz="2200"/>
              <a:t>Q2. v at apex of vertical throw?</a:t>
            </a:r>
          </a:p>
          <a:p>
            <a:pPr/>
            <a:r>
              <a:rPr sz="2200"/>
              <a:t>Q3. Acceleration at apex of vertical throw?</a:t>
            </a:r>
          </a:p>
          <a:p>
            <a:pPr/>
            <a:r>
              <a:rPr sz="2200"/>
              <a:t>Q4. Slope of v–t graph?</a:t>
            </a:r>
          </a:p>
          <a:p>
            <a:pPr/>
            <a:r>
              <a:rPr sz="2200"/>
              <a:t>Show your answer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Distance scalar; displacement vector. Distance ≥ |displacement|.</a:t>
            </a:r>
          </a:p>
          <a:p>
            <a:pPr/>
            <a:r>
              <a:rPr sz="2200"/>
              <a:t>v = dx/dt = slope of x–t; a = dv/dt = slope of v–t.</a:t>
            </a:r>
          </a:p>
          <a:p>
            <a:pPr/>
            <a:r>
              <a:rPr sz="2200"/>
              <a:t>Three kinematic equations: v = u + at; s = ut + ½at²; v² = u² + 2as.</a:t>
            </a:r>
          </a:p>
          <a:p>
            <a:pPr/>
            <a:r>
              <a:rPr sz="2200"/>
              <a:t>Free fall: a = g, h_max = u²/2g, time of flight = 2u/g.</a:t>
            </a:r>
          </a:p>
          <a:p>
            <a:pPr/>
            <a:r>
              <a:rPr sz="2200"/>
              <a:t>Area under v–t = displacement.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