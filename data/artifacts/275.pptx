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rocks to soil to development.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classifications.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Other two classifications.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Big global response.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Land-use vocabulary.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and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Soil basics.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types overview.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Soil-crop pairs.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kinds of erosion.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major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and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Address most-missed.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 out worksheet.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Resources and Development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Class 10  ·  Social Science (Geography)  ·  Resources and Development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— What you'll be able to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Define and classify resources.</a:t>
            </a:r>
          </a:p>
          <a:p>
            <a:pPr/>
            <a:r>
              <a:rPr sz="2200"/>
              <a:t>Explain sustainable development + Agenda 21.</a:t>
            </a:r>
          </a:p>
          <a:p>
            <a:pPr/>
            <a:r>
              <a:rPr sz="2200"/>
              <a:t>Outline India's resource planning.</a:t>
            </a:r>
          </a:p>
          <a:p>
            <a:pPr/>
            <a:r>
              <a:rPr sz="2200"/>
              <a:t>Identify causes of land degradation.</a:t>
            </a:r>
          </a:p>
          <a:p>
            <a:pPr/>
            <a:r>
              <a:rPr sz="2200"/>
              <a:t>Compare India's main soil types.</a:t>
            </a:r>
          </a:p>
          <a:p>
            <a:pPr/>
            <a:r>
              <a:rPr sz="2200"/>
              <a:t>Describe soil-conservation methods.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resource?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Anything in environment that satisfies a need.</a:t>
            </a:r>
          </a:p>
          <a:p>
            <a:pPr/>
            <a:r>
              <a:rPr sz="2200"/>
              <a:t>Conditions: tech access + econ feasibility + cultural acceptance.</a:t>
            </a:r>
          </a:p>
          <a:p>
            <a:pPr/>
            <a:r>
              <a:rPr sz="2200"/>
              <a:t>Result of nature × technology × institutions.</a:t>
            </a:r>
          </a:p>
          <a:p>
            <a:pPr/>
            <a:r>
              <a:rPr sz="2200"/>
              <a:t>Unevenly distributed.</a:t>
            </a:r>
          </a:p>
          <a:p>
            <a:pPr/>
            <a:r>
              <a:rPr sz="2200"/>
              <a:t>Stone in a garden — resource? It depends!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Classification — origin &amp; exhaustibility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BIOTIC — fish, forests (living).</a:t>
            </a:r>
          </a:p>
          <a:p>
            <a:pPr/>
            <a:r>
              <a:rPr sz="2200"/>
              <a:t>ABIOTIC — minerals, sunlight (non-living).</a:t>
            </a:r>
          </a:p>
          <a:p>
            <a:pPr/>
            <a:r>
              <a:rPr sz="2200"/>
              <a:t>RENEWABLE — solar, wind, water.</a:t>
            </a:r>
          </a:p>
          <a:p>
            <a:pPr/>
            <a:r>
              <a:rPr sz="2200"/>
              <a:t>NON-RENEWABLE — coal, petroleum.</a:t>
            </a:r>
          </a:p>
          <a:p>
            <a:pPr/>
            <a:r>
              <a:rPr sz="2200"/>
              <a:t>Renewable can still run out if over-used (forests).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Classification — ownership &amp;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Individual, community, national, international.</a:t>
            </a:r>
          </a:p>
          <a:p>
            <a:pPr/>
            <a:r>
              <a:rPr sz="2200"/>
              <a:t>EEZ — 200 nautical miles, national.</a:t>
            </a:r>
          </a:p>
          <a:p>
            <a:pPr/>
            <a:r>
              <a:rPr sz="2200"/>
              <a:t>POTENTIAL — exists, not yet utilised.</a:t>
            </a:r>
          </a:p>
          <a:p>
            <a:pPr/>
            <a:r>
              <a:rPr sz="2200"/>
              <a:t>STOCK — tech missing (e.g. hydrogen fuel).</a:t>
            </a:r>
          </a:p>
          <a:p>
            <a:pPr/>
            <a:r>
              <a:rPr sz="2200"/>
              <a:t>RESERVES — tech ready, use postponed (dam water).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Sustainable development + Rio 1992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Indiscriminate use → inequality + ecological crisis.</a:t>
            </a:r>
          </a:p>
          <a:p>
            <a:pPr/>
            <a:r>
              <a:rPr sz="2200"/>
              <a:t>Sustainable development — needs without future-cost.</a:t>
            </a:r>
          </a:p>
          <a:p>
            <a:pPr/>
            <a:r>
              <a:rPr sz="2200"/>
              <a:t>Rio Earth Summit 1992 — 100+ heads of state.</a:t>
            </a:r>
          </a:p>
          <a:p>
            <a:pPr/>
            <a:r>
              <a:rPr sz="2200"/>
              <a:t>Declarations on climate, biodiversity.</a:t>
            </a:r>
          </a:p>
          <a:p>
            <a:pPr/>
            <a:r>
              <a:rPr sz="2200"/>
              <a:t>Agenda 21 — global plan + every local body.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 planning in India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Step 1: survey + map + estimate (inventory).</a:t>
            </a:r>
          </a:p>
          <a:p>
            <a:pPr/>
            <a:r>
              <a:rPr sz="2200"/>
              <a:t>Step 2: planning structure with technology + institutions.</a:t>
            </a:r>
          </a:p>
          <a:p>
            <a:pPr/>
            <a:r>
              <a:rPr sz="2200"/>
              <a:t>Step 3: integrate with national development plan.</a:t>
            </a:r>
          </a:p>
          <a:p>
            <a:pPr/>
            <a:r>
              <a:rPr sz="2200"/>
              <a:t>Different states need different mixes.</a:t>
            </a:r>
          </a:p>
          <a:p>
            <a:pPr/>
            <a:r>
              <a:rPr sz="2200"/>
              <a:t>Jharkhand minerals; Rajasthan sun; Arunachal water; Ladakh tourism.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Land use in India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Geographical area ≈ 3.28 million sq km.</a:t>
            </a:r>
          </a:p>
          <a:p>
            <a:pPr/>
            <a:r>
              <a:rPr sz="2200"/>
              <a:t>43% plains; 30% mountains; 27% plateaus.</a:t>
            </a:r>
          </a:p>
          <a:p>
            <a:pPr/>
            <a:r>
              <a:rPr sz="2200"/>
              <a:t>Net Sown Area (NSA) — once-sown crops.</a:t>
            </a:r>
          </a:p>
          <a:p>
            <a:pPr/>
            <a:r>
              <a:rPr sz="2200"/>
              <a:t>Gross Cropped Area (GCA) — NSA + multi-cropped.</a:t>
            </a:r>
          </a:p>
          <a:p>
            <a:pPr/>
            <a:r>
              <a:rPr sz="2200"/>
              <a:t>Punjab/Haryana NSA &gt; 80%; Mizoram only ~10%.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Land degradation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~130 million ha of land degraded.</a:t>
            </a:r>
          </a:p>
          <a:p>
            <a:pPr/>
            <a:r>
              <a:rPr sz="2200"/>
              <a:t>Jharkhand/Chhattisgarh — mining + deforestation.</a:t>
            </a:r>
          </a:p>
          <a:p>
            <a:pPr/>
            <a:r>
              <a:rPr sz="2200"/>
              <a:t>Gujarat/Rajasthan/MP — over-grazing.</a:t>
            </a:r>
          </a:p>
          <a:p>
            <a:pPr/>
            <a:r>
              <a:rPr sz="2200"/>
              <a:t>Punjab/Haryana/W-UP — over-irrigation → salinity.</a:t>
            </a:r>
          </a:p>
          <a:p>
            <a:pPr/>
            <a:r>
              <a:rPr sz="2200"/>
              <a:t>Industrial effluents add to pollution.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Combatting land degradation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Afforestation + grazing management.</a:t>
            </a:r>
          </a:p>
          <a:p>
            <a:pPr/>
            <a:r>
              <a:rPr sz="2200"/>
              <a:t>Shelter belts of trees.</a:t>
            </a:r>
          </a:p>
          <a:p>
            <a:pPr/>
            <a:r>
              <a:rPr sz="2200"/>
              <a:t>Stabilise sand dunes (thorny bushes).</a:t>
            </a:r>
          </a:p>
          <a:p>
            <a:pPr/>
            <a:r>
              <a:rPr sz="2200"/>
              <a:t>Manage waste lands.</a:t>
            </a:r>
          </a:p>
          <a:p>
            <a:pPr/>
            <a:r>
              <a:rPr sz="2200"/>
              <a:t>Control mining + treat industrial effluents.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Soils — the living resource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Most important RENEWABLE natural resource.</a:t>
            </a:r>
          </a:p>
          <a:p>
            <a:pPr/>
            <a:r>
              <a:rPr sz="2200"/>
              <a:t>Soil takes millions of years to form a few cm.</a:t>
            </a:r>
          </a:p>
          <a:p>
            <a:pPr/>
            <a:r>
              <a:rPr sz="2200"/>
              <a:t>Formed by relief, parent rock, climate, vegetation, time.</a:t>
            </a:r>
          </a:p>
          <a:p>
            <a:pPr/>
            <a:r>
              <a:rPr sz="2200"/>
              <a:t>India has six major types.</a:t>
            </a:r>
          </a:p>
          <a:p>
            <a:pPr/>
            <a:r>
              <a:rPr sz="2200"/>
              <a:t>Each suits different crops.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Major soils of India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ALLUVIAL — northern plains; Bangar (old) + Khadar (new); fertile.</a:t>
            </a:r>
          </a:p>
          <a:p>
            <a:pPr/>
            <a:r>
              <a:rPr sz="2200"/>
              <a:t>BLACK / REGUR — Deccan trap; cotton.</a:t>
            </a:r>
          </a:p>
          <a:p>
            <a:pPr/>
            <a:r>
              <a:rPr sz="2200"/>
              <a:t>RED &amp; YELLOW — Deccan crystalline; iron-rich.</a:t>
            </a:r>
          </a:p>
          <a:p>
            <a:pPr/>
            <a:r>
              <a:rPr sz="2200"/>
              <a:t>LATERITE — heat + heavy rain; tea, coffee, cashew.</a:t>
            </a:r>
          </a:p>
          <a:p>
            <a:pPr/>
            <a:r>
              <a:rPr sz="2200"/>
              <a:t>ARID — sandy, saline; FOREST — hilly forested areas.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Soil → crop quick-match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Alluvial → wheat, paddy, sugarcane.</a:t>
            </a:r>
          </a:p>
          <a:p>
            <a:pPr/>
            <a:r>
              <a:rPr sz="2200"/>
              <a:t>Black (regur) → cotton.</a:t>
            </a:r>
          </a:p>
          <a:p>
            <a:pPr/>
            <a:r>
              <a:rPr sz="2200"/>
              <a:t>Laterite → tea, coffee, cashew.</a:t>
            </a:r>
          </a:p>
          <a:p>
            <a:pPr/>
            <a:r>
              <a:rPr sz="2200"/>
              <a:t>Red → millets, pulses.</a:t>
            </a:r>
          </a:p>
          <a:p>
            <a:pPr/>
            <a:r>
              <a:rPr sz="2200"/>
              <a:t>Arid (irrigated) → millets, gram.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Soil erosion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Erosion = denudation of soil cover.</a:t>
            </a:r>
          </a:p>
          <a:p>
            <a:pPr/>
            <a:r>
              <a:rPr sz="2200"/>
              <a:t>GULLY erosion → bad lands / ravines (Chambal).</a:t>
            </a:r>
          </a:p>
          <a:p>
            <a:pPr/>
            <a:r>
              <a:rPr sz="2200"/>
              <a:t>SHEET erosion → topsoil washed off slope.</a:t>
            </a:r>
          </a:p>
          <a:p>
            <a:pPr/>
            <a:r>
              <a:rPr sz="2200"/>
              <a:t>WIND erosion — flat / sloping land.</a:t>
            </a:r>
          </a:p>
          <a:p>
            <a:pPr/>
            <a:r>
              <a:rPr sz="2200"/>
              <a:t>Defective ploughing speeds up erosion.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Soil conservation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CONTOUR PLOUGHING — along contour lines.</a:t>
            </a:r>
          </a:p>
          <a:p>
            <a:pPr/>
            <a:r>
              <a:rPr sz="2200"/>
              <a:t>TERRACE cultivation — Himalayas.</a:t>
            </a:r>
          </a:p>
          <a:p>
            <a:pPr/>
            <a:r>
              <a:rPr sz="2200"/>
              <a:t>STRIP CROPPING — grass strips between crop strips.</a:t>
            </a:r>
          </a:p>
          <a:p>
            <a:pPr/>
            <a:r>
              <a:rPr sz="2200"/>
              <a:t>SHELTER BELTS — rows of trees, stabilised dunes.</a:t>
            </a:r>
          </a:p>
          <a:p>
            <a:pPr/>
            <a:r>
              <a:rPr sz="2200"/>
              <a:t>Afforestation + controlled grazing + mining control.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— You try (5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1. Classify hydrogen as a resource — by status.</a:t>
            </a:r>
          </a:p>
          <a:p>
            <a:pPr/>
            <a:r>
              <a:rPr sz="2200"/>
              <a:t>2. Two states most affected by over-irrigation.</a:t>
            </a:r>
          </a:p>
          <a:p>
            <a:pPr/>
            <a:r>
              <a:rPr sz="2200"/>
              <a:t>3. Soil best for cotton.</a:t>
            </a:r>
          </a:p>
          <a:p>
            <a:pPr/>
            <a:r>
              <a:rPr sz="2200"/>
              <a:t>4. Two soil-conservation methods used in your region.</a:t>
            </a:r>
          </a:p>
          <a:p>
            <a:pPr/>
            <a:r>
              <a:rPr sz="2200"/>
              <a:t>5. Year of Rio Earth Summit.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check — Quick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Q1. EEZ = ? nm.</a:t>
            </a:r>
          </a:p>
          <a:p>
            <a:pPr/>
            <a:r>
              <a:rPr sz="2200"/>
              <a:t>Q2. Bangar vs Khadar — which is more fertile?</a:t>
            </a:r>
          </a:p>
          <a:p>
            <a:pPr/>
            <a:r>
              <a:rPr sz="2200"/>
              <a:t>Q3. Laterite — humus rich or poor?</a:t>
            </a:r>
          </a:p>
          <a:p>
            <a:pPr/>
            <a:r>
              <a:rPr sz="2200"/>
              <a:t>Q4. Strip cropping — what is it?</a:t>
            </a:r>
          </a:p>
          <a:p>
            <a:pPr/>
            <a:r>
              <a:rPr sz="2200"/>
              <a:t>Show fingers.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—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Resource = nature × tech × culture.</a:t>
            </a:r>
          </a:p>
          <a:p>
            <a:pPr/>
            <a:r>
              <a:rPr sz="2200"/>
              <a:t>Four classifications — origin / exhaustibility / ownership / status.</a:t>
            </a:r>
          </a:p>
          <a:p>
            <a:pPr/>
            <a:r>
              <a:rPr sz="2200"/>
              <a:t>Sustainable development + Rio 1992 + Agenda 21.</a:t>
            </a:r>
          </a:p>
          <a:p>
            <a:pPr/>
            <a:r>
              <a:rPr sz="2200"/>
              <a:t>Three steps of resource planning.</a:t>
            </a:r>
          </a:p>
          <a:p>
            <a:pPr/>
            <a:r>
              <a:rPr sz="2200"/>
              <a:t>Land use &amp; degradation patterns by Indian region.</a:t>
            </a:r>
          </a:p>
          <a:p>
            <a:pPr/>
            <a:r>
              <a:rPr sz="2200"/>
              <a:t>Six soils — alluvial, black, red, laterite, arid, forest.</a:t>
            </a:r>
          </a:p>
          <a:p>
            <a:pPr/>
            <a:r>
              <a:rPr sz="2200"/>
              <a:t>Erosion countered by contour, terrace, strip cropping, shelter belts.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