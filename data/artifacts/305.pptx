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भक्तिकाव्य का स्वाद।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पढ़ें।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परिचय।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भाषा-शैली।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पृष्ठभूमि।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नाम का इतिहास।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पहला पद।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दूसरा पद।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तीसरा पद।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चौथा पद।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अलंकारों का सर्वेक्षण।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रस-योजना।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शब्दार्थ।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मूल विमर्श।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घूमते हुए जाँचें।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गलतियाँ देखें।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कार्यपत्र वितरण।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सूरदास के पद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10  ·  Hindi  ·  सूरदास के पद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— उद्देश्य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सूरदास का परिचय।</a:t>
            </a:r>
          </a:p>
          <a:p>
            <a:pPr/>
            <a:r>
              <a:rPr sz="2200"/>
              <a:t>भ्रमरगीत प्रसंग समझना।</a:t>
            </a:r>
          </a:p>
          <a:p>
            <a:pPr/>
            <a:r>
              <a:rPr sz="2200"/>
              <a:t>चारों पदों के भावार्थ का विश्लेषण।</a:t>
            </a:r>
          </a:p>
          <a:p>
            <a:pPr/>
            <a:r>
              <a:rPr sz="2200"/>
              <a:t>अलंकारों की पहचान।</a:t>
            </a:r>
          </a:p>
          <a:p>
            <a:pPr/>
            <a:r>
              <a:rPr sz="2200"/>
              <a:t>सगुण भक्ति बनाम निर्गुण ज्ञान।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सूरदास का परिचय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लगभग १४७८–१५८० ई.।</a:t>
            </a:r>
          </a:p>
          <a:p>
            <a:pPr/>
            <a:r>
              <a:rPr sz="2200"/>
              <a:t>भक्तिकाल — सगुण भक्ति धारा।</a:t>
            </a:r>
          </a:p>
          <a:p>
            <a:pPr/>
            <a:r>
              <a:rPr sz="2200"/>
              <a:t>अष्टछाप के सर्वप्रमुख कवि।</a:t>
            </a:r>
          </a:p>
          <a:p>
            <a:pPr/>
            <a:r>
              <a:rPr sz="2200"/>
              <a:t>पुष्टिमार्ग के अनुयायी।</a:t>
            </a:r>
          </a:p>
          <a:p>
            <a:pPr/>
            <a:r>
              <a:rPr sz="2200"/>
              <a:t>प्रमुख रचना — सूरसागर।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सूरदास की भाषा और शैली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भाषा — ब्रजभाषा।</a:t>
            </a:r>
          </a:p>
          <a:p>
            <a:pPr/>
            <a:r>
              <a:rPr sz="2200"/>
              <a:t>मधुर, सरस, संगीतमय।</a:t>
            </a:r>
          </a:p>
          <a:p>
            <a:pPr/>
            <a:r>
              <a:rPr sz="2200"/>
              <a:t>सूरसागर में लगभग एक लाख पद।</a:t>
            </a:r>
          </a:p>
          <a:p>
            <a:pPr/>
            <a:r>
              <a:rPr sz="2200"/>
              <a:t>कृष्ण-लीला, बाललीला, भ्रमरगीत।</a:t>
            </a:r>
          </a:p>
          <a:p>
            <a:pPr/>
            <a:r>
              <a:rPr sz="2200"/>
              <a:t>पद आज भी गाये जाते हैं।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भ्रमरगीत — पृष्ठभूमि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कृष्ण व्रज छोड़कर मथुरा चले गए।</a:t>
            </a:r>
          </a:p>
          <a:p>
            <a:pPr/>
            <a:r>
              <a:rPr sz="2200"/>
              <a:t>गोपियाँ वियोग में दुःखी।</a:t>
            </a:r>
          </a:p>
          <a:p>
            <a:pPr/>
            <a:r>
              <a:rPr sz="2200"/>
              <a:t>कृष्ण ने उद्धव को संदेश देकर भेजा।</a:t>
            </a:r>
          </a:p>
          <a:p>
            <a:pPr/>
            <a:r>
              <a:rPr sz="2200"/>
              <a:t>उद्धव — ज्ञान-मार्गी, निर्गुण ब्रह्म का उपदेश।</a:t>
            </a:r>
          </a:p>
          <a:p>
            <a:pPr/>
            <a:r>
              <a:rPr sz="2200"/>
              <a:t>गोपियाँ — सगुण-भक्त, कृष्ण के साकार रूप में प्रेम।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भ्रमरगीत — नाम का रहस्य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उपदेश के समय एक भौंरा वहाँ आ गया।</a:t>
            </a:r>
          </a:p>
          <a:p>
            <a:pPr/>
            <a:r>
              <a:rPr sz="2200"/>
              <a:t>गोपियों ने भौंरे के माध्यम से उद्धव को उत्तर दिए।</a:t>
            </a:r>
          </a:p>
          <a:p>
            <a:pPr/>
            <a:r>
              <a:rPr sz="2200"/>
              <a:t>इसी से प्रसंग का नाम 'भ्रमरगीत' पड़ा।</a:t>
            </a:r>
          </a:p>
          <a:p>
            <a:pPr/>
            <a:r>
              <a:rPr sz="2200"/>
              <a:t>भौंरा = उद्धव का प्रतीक।</a:t>
            </a:r>
          </a:p>
          <a:p>
            <a:pPr/>
            <a:r>
              <a:rPr sz="2200"/>
              <a:t>अप्रत्यक्ष-व्यंग्यात्मक संवाद।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पहला पद — बड़भागी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गोपियाँ — 'तुम बड़े भाग्यशाली हो'।</a:t>
            </a:r>
          </a:p>
          <a:p>
            <a:pPr/>
            <a:r>
              <a:rPr sz="2200"/>
              <a:t>व्यंग्यपूर्ण कथन।</a:t>
            </a:r>
          </a:p>
          <a:p>
            <a:pPr/>
            <a:r>
              <a:rPr sz="2200"/>
              <a:t>उपमा १ — कमल-पत्ता: जल में अछूता।</a:t>
            </a:r>
          </a:p>
          <a:p>
            <a:pPr/>
            <a:r>
              <a:rPr sz="2200"/>
              <a:t>उपमा २ — तेल की मटकी: एक बूँद नहीं।</a:t>
            </a:r>
          </a:p>
          <a:p>
            <a:pPr/>
            <a:r>
              <a:rPr sz="2200"/>
              <a:t>भाव — भक्ति-मार्ग की श्रेष्ठता।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दूसरा पद — मन की मन माँझ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'हमारे मन की बात मन में ही रह गई'।</a:t>
            </a:r>
          </a:p>
          <a:p>
            <a:pPr/>
            <a:r>
              <a:rPr sz="2200"/>
              <a:t>आशा — कृष्ण लौटेंगे, हम विरह सुनाएँगी।</a:t>
            </a:r>
          </a:p>
          <a:p>
            <a:pPr/>
            <a:r>
              <a:rPr sz="2200"/>
              <a:t>उद्धव का योग = 'ज्वलंत आग पर मरहम'।</a:t>
            </a:r>
          </a:p>
          <a:p>
            <a:pPr/>
            <a:r>
              <a:rPr sz="2200"/>
              <a:t>गुड़-गोबर की उक्ति — मीठा बना कड़वा।</a:t>
            </a:r>
          </a:p>
          <a:p>
            <a:pPr/>
            <a:r>
              <a:rPr sz="2200"/>
              <a:t>भाव — निराशा + अस्वीकरण।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तीसरा पद — हारिल की लकरी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हारिल पक्षी हर समय लकड़ी पकड़े रहता है।</a:t>
            </a:r>
          </a:p>
          <a:p>
            <a:pPr/>
            <a:r>
              <a:rPr sz="2200"/>
              <a:t>'हमारे लिए कृष्ण ही हारिल की लकरी'।</a:t>
            </a:r>
          </a:p>
          <a:p>
            <a:pPr/>
            <a:r>
              <a:rPr sz="2200"/>
              <a:t>एकनिष्ठ समर्पण का प्रतीक।</a:t>
            </a:r>
          </a:p>
          <a:p>
            <a:pPr/>
            <a:r>
              <a:rPr sz="2200"/>
              <a:t>मधुर औषधि (कृष्ण) बनाम कड़वी दवाई (योग)।</a:t>
            </a:r>
          </a:p>
          <a:p>
            <a:pPr/>
            <a:r>
              <a:rPr sz="2200"/>
              <a:t>काले (कृष्ण) बनाम सफेद (निर्गुण)।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चौथा पद — हरि हैं राजनीति पढ़ि आए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'कृष्ण मथुरा में राजनीति सीख आए हैं'।</a:t>
            </a:r>
          </a:p>
          <a:p>
            <a:pPr/>
            <a:r>
              <a:rPr sz="2200"/>
              <a:t>व्यंग्यात्मक टीका।</a:t>
            </a:r>
          </a:p>
          <a:p>
            <a:pPr/>
            <a:r>
              <a:rPr sz="2200"/>
              <a:t>पहले प्रेम-संदेश, अब राजनीतिक संदेश।</a:t>
            </a:r>
          </a:p>
          <a:p>
            <a:pPr/>
            <a:r>
              <a:rPr sz="2200"/>
              <a:t>प्रश्नात्मक शैली।</a:t>
            </a:r>
          </a:p>
          <a:p>
            <a:pPr/>
            <a:r>
              <a:rPr sz="2200"/>
              <a:t>भाव — कृष्ण से शिकायत + व्यंग्य।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मुख्य अलंकार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उपमा — कमल-पत्र, हारिल की लकरी।</a:t>
            </a:r>
          </a:p>
          <a:p>
            <a:pPr/>
            <a:r>
              <a:rPr sz="2200"/>
              <a:t>रूपक — 'हरि हैं हारिल की लकरी'।</a:t>
            </a:r>
          </a:p>
          <a:p>
            <a:pPr/>
            <a:r>
              <a:rPr sz="2200"/>
              <a:t>अनुप्रास — 'मधुर मधुर', 'धरि धरि'।</a:t>
            </a:r>
          </a:p>
          <a:p>
            <a:pPr/>
            <a:r>
              <a:rPr sz="2200"/>
              <a:t>श्लेष — 'काले-सफेद'।</a:t>
            </a:r>
          </a:p>
          <a:p>
            <a:pPr/>
            <a:r>
              <a:rPr sz="2200"/>
              <a:t>प्रतीक — भौंरा।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रस और भाव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मुख्य रस — वियोग-शृंगार।</a:t>
            </a:r>
          </a:p>
          <a:p>
            <a:pPr/>
            <a:r>
              <a:rPr sz="2200"/>
              <a:t>साथ में व्यंग्य का हास्यस्पर्श।</a:t>
            </a:r>
          </a:p>
          <a:p>
            <a:pPr/>
            <a:r>
              <a:rPr sz="2200"/>
              <a:t>करुण का दर्द-स्पर्श।</a:t>
            </a:r>
          </a:p>
          <a:p>
            <a:pPr/>
            <a:r>
              <a:rPr sz="2200"/>
              <a:t>भक्ति का शान्ति-स्पर्श।</a:t>
            </a:r>
          </a:p>
          <a:p>
            <a:pPr/>
            <a:r>
              <a:rPr sz="2200"/>
              <a:t>बहुरसी संरचना — सूरदास की विशेषता।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ब्रजभाषा के विशिष्ट शब्द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पुरइन-पात — कमल का पत्ता।</a:t>
            </a:r>
          </a:p>
          <a:p>
            <a:pPr/>
            <a:r>
              <a:rPr sz="2200"/>
              <a:t>दागी — डूबा/प्रभावित।</a:t>
            </a:r>
          </a:p>
          <a:p>
            <a:pPr/>
            <a:r>
              <a:rPr sz="2200"/>
              <a:t>ब्याधि — रोग।</a:t>
            </a:r>
          </a:p>
          <a:p>
            <a:pPr/>
            <a:r>
              <a:rPr sz="2200"/>
              <a:t>ऊधो — उद्धव।</a:t>
            </a:r>
          </a:p>
          <a:p>
            <a:pPr/>
            <a:r>
              <a:rPr sz="2200"/>
              <a:t>पाहन — पत्थर। उर अंतरगत — हृदय में।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सगुण भक्ति बनाम निर्गुण ज्ञान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सगुण = साकार + रूप-गुण-धारी (कृष्ण-राम)।</a:t>
            </a:r>
          </a:p>
          <a:p>
            <a:pPr/>
            <a:r>
              <a:rPr sz="2200"/>
              <a:t>निर्गुण = निराकार + निर्विशेष ब्रह्म।</a:t>
            </a:r>
          </a:p>
          <a:p>
            <a:pPr/>
            <a:r>
              <a:rPr sz="2200"/>
              <a:t>गोपियाँ — सगुण; उद्धव — निर्गुण।</a:t>
            </a:r>
          </a:p>
          <a:p>
            <a:pPr/>
            <a:r>
              <a:rPr sz="2200"/>
              <a:t>सूरदास का संदेश — सगुण श्रेष्ठ।</a:t>
            </a:r>
          </a:p>
          <a:p>
            <a:pPr/>
            <a:r>
              <a:rPr sz="2200"/>
              <a:t>हृदय बुद्धि से बड़ा है।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— अभ्यास (5 मिनट)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१. हारिल की लकरी क्या है?</a:t>
            </a:r>
          </a:p>
          <a:p>
            <a:pPr/>
            <a:r>
              <a:rPr sz="2200"/>
              <a:t>२. 'बड़भागी' में क्या भाव छिपा है?</a:t>
            </a:r>
          </a:p>
          <a:p>
            <a:pPr/>
            <a:r>
              <a:rPr sz="2200"/>
              <a:t>३. 'राजनीति पढ़ि आए' का अर्थ?</a:t>
            </a:r>
          </a:p>
          <a:p>
            <a:pPr/>
            <a:r>
              <a:rPr sz="2200"/>
              <a:t>४. एक उपमा अपने शब्दों में लिखें।</a:t>
            </a:r>
          </a:p>
          <a:p>
            <a:pPr/>
            <a:r>
              <a:rPr sz="2200"/>
              <a:t>५. ब्रजभाषा के तीन शब्द और उनके अर्थ।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 — त्वरित जाँच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प्र.१. सूरदास की भाषा?</a:t>
            </a:r>
          </a:p>
          <a:p>
            <a:pPr/>
            <a:r>
              <a:rPr sz="2200"/>
              <a:t>प्र.२. भ्रमरगीत में मुख्य पात्र कौन हैं?</a:t>
            </a:r>
          </a:p>
          <a:p>
            <a:pPr/>
            <a:r>
              <a:rPr sz="2200"/>
              <a:t>प्र.३. उद्धव किस मार्ग के अनुयायी हैं?</a:t>
            </a:r>
          </a:p>
          <a:p>
            <a:pPr/>
            <a:r>
              <a:rPr sz="2200"/>
              <a:t>प्र.४. हारिल की लकरी क्या प्रतीक है?</a:t>
            </a:r>
          </a:p>
          <a:p>
            <a:pPr/>
            <a:r>
              <a:rPr sz="2200"/>
              <a:t>उँगलियों पर उत्तर।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मुख्य निष्कर्ष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सूरदास भक्तिकाल के सगुण भक्ति धारा के सर्वश्रेष्ठ कवि।</a:t>
            </a:r>
          </a:p>
          <a:p>
            <a:pPr/>
            <a:r>
              <a:rPr sz="2200"/>
              <a:t>भ्रमरगीत — गोपी-उद्धव संवाद; ज्ञान vs भक्ति।</a:t>
            </a:r>
          </a:p>
          <a:p>
            <a:pPr/>
            <a:r>
              <a:rPr sz="2200"/>
              <a:t>चार पद — व्यंग्य, मनोव्यथा, समर्पण, शिकायत।</a:t>
            </a:r>
          </a:p>
          <a:p>
            <a:pPr/>
            <a:r>
              <a:rPr sz="2200"/>
              <a:t>मुख्य रस — वियोग-शृंगार; भाषा — ब्रजभाषा।</a:t>
            </a:r>
          </a:p>
          <a:p>
            <a:pPr/>
            <a:r>
              <a:rPr sz="2200"/>
              <a:t>अलंकार — उपमा, रूपक, अनुप्रास।</a:t>
            </a:r>
          </a:p>
          <a:p>
            <a:pPr/>
            <a:r>
              <a:rPr sz="2200"/>
              <a:t>संदेश — हृदय और प्रेम बुद्धि और तर्क से बड़े हैं।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