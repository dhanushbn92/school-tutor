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students. From linear (degree 1) we move up to quadratic (degree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each objective; ask which feels least sure.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Demonstrate re-arranging (x − 2)^2 = 5 → x^2 − 4x − 1 = 0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Substitute and check is the simplest verification — drill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zero-product property is the why behind factor-and-solve.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Split the middle, regroup, apply zero-product.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carefully — this is also where the quadratic formula comes from.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at the (x − 3)^2 = 4 step — that's the elegant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Memorise the formula; emphasis on its universality.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Sketch the three parabola pictures on the 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small computations; students see the pattern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Useful in reverse: given roots, write down the quadratic instantly.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reject the non-physical root.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room; address common slips.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 the question with the most disagreement.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out the worksheet, announce homework.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Quadratic Equations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Class 10  ·  Mathematics  ·  Quadratic Equations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Objectives — What you'll be able to 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Write quadratics in standard form.</a:t>
            </a:r>
          </a:p>
          <a:p>
            <a:pPr/>
            <a:r>
              <a:rPr sz="2200"/>
              <a:t>Solve by factorisation, completing the square, and the formula.</a:t>
            </a:r>
          </a:p>
          <a:p>
            <a:pPr/>
            <a:r>
              <a:rPr sz="2200"/>
              <a:t>Use the discriminant to predict the nature of roots.</a:t>
            </a:r>
          </a:p>
          <a:p>
            <a:pPr/>
            <a:r>
              <a:rPr sz="2200"/>
              <a:t>Apply sum/product-of-roots relations.</a:t>
            </a:r>
          </a:p>
          <a:p>
            <a:pPr/>
            <a:r>
              <a:rPr sz="2200"/>
              <a:t>Translate word problems into quadratics.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Standard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ax^2 + bx + c = 0 with a ≠ 0.</a:t>
            </a:r>
          </a:p>
          <a:p>
            <a:pPr/>
            <a:r>
              <a:rPr sz="2200"/>
              <a:t>If a = 0, equation collapses to linear.</a:t>
            </a:r>
          </a:p>
          <a:p>
            <a:pPr/>
            <a:r>
              <a:rPr sz="2200"/>
              <a:t>Always re-arrange before applying any method.</a:t>
            </a:r>
          </a:p>
          <a:p>
            <a:pPr/>
            <a:r>
              <a:rPr sz="2200"/>
              <a:t>Examples: 2x^2 − 5x + 3 = 0; x^2 − 9 = 0; 3x^2 + x = 0.</a:t>
            </a:r>
          </a:p>
          <a:p>
            <a:pPr/>
            <a:r>
              <a:rPr sz="2200"/>
              <a:t>Coefficients a, b, c are read directly from the standard form.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Roots — verification by substitution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 root is a value of x making LHS = 0.</a:t>
            </a:r>
          </a:p>
          <a:p>
            <a:pPr/>
            <a:r>
              <a:rPr sz="2200"/>
              <a:t>Verify by substituting and computing.</a:t>
            </a:r>
          </a:p>
          <a:p>
            <a:pPr/>
            <a:r>
              <a:rPr sz="2200"/>
              <a:t>Example: x = 2 in x^2 − 5x + 6 → 4 − 10 + 6 = 0 ✓.</a:t>
            </a:r>
          </a:p>
          <a:p>
            <a:pPr/>
            <a:r>
              <a:rPr sz="2200"/>
              <a:t>A quadratic has AT MOST TWO real roots.</a:t>
            </a:r>
          </a:p>
          <a:p>
            <a:pPr/>
            <a:r>
              <a:rPr sz="2200"/>
              <a:t>Number of real roots is determined by the discriminant.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1 — Factorisation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Factor the quadratic (split-the-middle).</a:t>
            </a:r>
          </a:p>
          <a:p>
            <a:pPr/>
            <a:r>
              <a:rPr sz="2200"/>
              <a:t>Apply the zero-product property: P · Q = 0 → P = 0 or Q = 0.</a:t>
            </a:r>
          </a:p>
          <a:p>
            <a:pPr/>
            <a:r>
              <a:rPr sz="2200"/>
              <a:t>Set each factor to 0 and solve.</a:t>
            </a:r>
          </a:p>
          <a:p>
            <a:pPr/>
            <a:r>
              <a:rPr sz="2200"/>
              <a:t>Example: x^2 − 5x + 6 = (x − 2)(x − 3) = 0 → x = 2 or 3.</a:t>
            </a:r>
          </a:p>
          <a:p>
            <a:pPr/>
            <a:r>
              <a:rPr sz="2200"/>
              <a:t>Limitation: only works when factors are rational.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Factor: 2x^2 − 7x + 3 = 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a·c = 6; need sum −7, product 6 → (−1, −6).</a:t>
            </a:r>
          </a:p>
          <a:p>
            <a:pPr/>
            <a:r>
              <a:rPr sz="2200"/>
              <a:t>Split: 2x^2 − x − 6x + 3 = 0.</a:t>
            </a:r>
          </a:p>
          <a:p>
            <a:pPr/>
            <a:r>
              <a:rPr sz="2200"/>
              <a:t>Group: x(2x − 1) − 3(2x − 1) = 0.</a:t>
            </a:r>
          </a:p>
          <a:p>
            <a:pPr/>
            <a:r>
              <a:rPr sz="2200"/>
              <a:t>= (2x − 1)(x − 3) = 0.</a:t>
            </a:r>
          </a:p>
          <a:p>
            <a:pPr/>
            <a:r>
              <a:rPr sz="2200"/>
              <a:t>x = 1/2 or x = 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2 — Completing the square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Always works (universal).</a:t>
            </a:r>
          </a:p>
          <a:p>
            <a:pPr/>
            <a:r>
              <a:rPr sz="2200"/>
              <a:t>1. Divide by a so leading coefficient is 1.</a:t>
            </a:r>
          </a:p>
          <a:p>
            <a:pPr/>
            <a:r>
              <a:rPr sz="2200"/>
              <a:t>2. Move constant to the right.</a:t>
            </a:r>
          </a:p>
          <a:p>
            <a:pPr/>
            <a:r>
              <a:rPr sz="2200"/>
              <a:t>3. Add (b/2a)^2 to both sides.</a:t>
            </a:r>
          </a:p>
          <a:p>
            <a:pPr/>
            <a:r>
              <a:rPr sz="2200"/>
              <a:t>4. Re-write LHS as (x + b/(2a))^2 ; take square roots.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Complete the square: x^2 − 6x + 5 = 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x^2 − 6x = −5.</a:t>
            </a:r>
          </a:p>
          <a:p>
            <a:pPr/>
            <a:r>
              <a:rPr sz="2200"/>
              <a:t>Add 9 (= (6/2)^2): x^2 − 6x + 9 = 4.</a:t>
            </a:r>
          </a:p>
          <a:p>
            <a:pPr/>
            <a:r>
              <a:rPr sz="2200"/>
              <a:t>(x − 3)^2 = 4.</a:t>
            </a:r>
          </a:p>
          <a:p>
            <a:pPr/>
            <a:r>
              <a:rPr sz="2200"/>
              <a:t>x − 3 = ±2.</a:t>
            </a:r>
          </a:p>
          <a:p>
            <a:pPr/>
            <a:r>
              <a:rPr sz="2200"/>
              <a:t>x = 1 or x = 5.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 3 — The quadratic formula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x = (−b ± √(b^2 − 4ac)) / (2a).</a:t>
            </a:r>
          </a:p>
          <a:p>
            <a:pPr/>
            <a:r>
              <a:rPr sz="2200"/>
              <a:t>Universal solver — works for ANY quadratic.</a:t>
            </a:r>
          </a:p>
          <a:p>
            <a:pPr/>
            <a:r>
              <a:rPr sz="2200"/>
              <a:t>Derived by completing the square on the general form.</a:t>
            </a:r>
          </a:p>
          <a:p>
            <a:pPr/>
            <a:r>
              <a:rPr sz="2200"/>
              <a:t>Steps: identify a, b, c; compute discriminant; substitute.</a:t>
            </a:r>
          </a:p>
          <a:p>
            <a:pPr/>
            <a:r>
              <a:rPr sz="2200"/>
              <a:t>Example: 2x^2 + 5x − 3 = 0 → D = 49 → x = 1/2 or −3.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Discriminant — nature of roots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D = b^2 − 4ac.</a:t>
            </a:r>
          </a:p>
          <a:p>
            <a:pPr/>
            <a:r>
              <a:rPr sz="2200"/>
              <a:t>D &gt; 0 → two distinct real roots.</a:t>
            </a:r>
          </a:p>
          <a:p>
            <a:pPr/>
            <a:r>
              <a:rPr sz="2200"/>
              <a:t>D = 0 → equal real roots (repeated).</a:t>
            </a:r>
          </a:p>
          <a:p>
            <a:pPr/>
            <a:r>
              <a:rPr sz="2200"/>
              <a:t>D &lt; 0 → no real roots.</a:t>
            </a:r>
          </a:p>
          <a:p>
            <a:pPr/>
            <a:r>
              <a:rPr sz="2200"/>
              <a:t>Geometric: parabola crosses, touches, or misses the x-axis.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Discriminant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x^2 − 5x + 6 = 0: D = 1 &gt; 0 → two distinct.</a:t>
            </a:r>
          </a:p>
          <a:p>
            <a:pPr/>
            <a:r>
              <a:rPr sz="2200"/>
              <a:t>x^2 − 6x + 9 = 0: D = 0 → equal (x = 3 repeated).</a:t>
            </a:r>
          </a:p>
          <a:p>
            <a:pPr/>
            <a:r>
              <a:rPr sz="2200"/>
              <a:t>x^2 + x + 1 = 0: D = −3 &lt; 0 → no real roots.</a:t>
            </a:r>
          </a:p>
          <a:p>
            <a:pPr/>
            <a:r>
              <a:rPr sz="2200"/>
              <a:t>Check before solving — saves work.</a:t>
            </a:r>
          </a:p>
          <a:p>
            <a:pPr/>
            <a:r>
              <a:rPr sz="2200"/>
              <a:t>Discriminant predicts number of solutions.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Roots and coefficients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If α, β are roots of ax^2 + bx + c = 0:</a:t>
            </a:r>
          </a:p>
          <a:p>
            <a:pPr/>
            <a:r>
              <a:rPr sz="2200"/>
              <a:t>Sum: α + β = −b/a.</a:t>
            </a:r>
          </a:p>
          <a:p>
            <a:pPr/>
            <a:r>
              <a:rPr sz="2200"/>
              <a:t>Product: αβ = c/a.</a:t>
            </a:r>
          </a:p>
          <a:p>
            <a:pPr/>
            <a:r>
              <a:rPr sz="2200"/>
              <a:t>Build a quadratic from given roots: x^2 − (sum)x + (product) = 0.</a:t>
            </a:r>
          </a:p>
          <a:p>
            <a:pPr/>
            <a:r>
              <a:rPr sz="2200"/>
              <a:t>Example: roots 3 and −5 → x^2 + 2x − 15 = 0.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— Word problem: rectangle area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Length is 4 m more than width; area is 192 m².</a:t>
            </a:r>
          </a:p>
          <a:p>
            <a:pPr/>
            <a:r>
              <a:rPr sz="2200"/>
              <a:t>Let width = x → length = x + 4.</a:t>
            </a:r>
          </a:p>
          <a:p>
            <a:pPr/>
            <a:r>
              <a:rPr sz="2200"/>
              <a:t>x(x + 4) = 192 → x^2 + 4x − 192 = 0.</a:t>
            </a:r>
          </a:p>
          <a:p>
            <a:pPr/>
            <a:r>
              <a:rPr sz="2200"/>
              <a:t>Solve: x = 12 or x = −16; reject −16.</a:t>
            </a:r>
          </a:p>
          <a:p>
            <a:pPr/>
            <a:r>
              <a:rPr sz="2200"/>
              <a:t>Width 12 m, length 16 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Activity — You try (5 minutes)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1. Solve x^2 − 7x + 12 = 0 by factorisation.</a:t>
            </a:r>
          </a:p>
          <a:p>
            <a:pPr/>
            <a:r>
              <a:rPr sz="2200"/>
              <a:t>2. Solve x^2 + 4x − 5 = 0 by completing the square.</a:t>
            </a:r>
          </a:p>
          <a:p>
            <a:pPr/>
            <a:r>
              <a:rPr sz="2200"/>
              <a:t>3. Use the formula on x^2 − x − 1 = 0.</a:t>
            </a:r>
          </a:p>
          <a:p>
            <a:pPr/>
            <a:r>
              <a:rPr sz="2200"/>
              <a:t>4. Discriminant of x^2 + 2x + 5 = 0; classify.</a:t>
            </a:r>
          </a:p>
          <a:p>
            <a:pPr/>
            <a:r>
              <a:rPr sz="2200"/>
              <a:t>5. Quadratic with roots 1 and 7.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Quick check — Quick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Q1. Standard form of quadratic?</a:t>
            </a:r>
          </a:p>
          <a:p>
            <a:pPr/>
            <a:r>
              <a:rPr sz="2200"/>
              <a:t>Q2. D &lt; 0 means how many real roots?</a:t>
            </a:r>
          </a:p>
          <a:p>
            <a:pPr/>
            <a:r>
              <a:rPr sz="2200"/>
              <a:t>Q3. Sum of roots of 3x^2 − 6x + 5 = 0?</a:t>
            </a:r>
          </a:p>
          <a:p>
            <a:pPr/>
            <a:r>
              <a:rPr sz="2200"/>
              <a:t>Q4. Quadratic with roots 2 and −5?</a:t>
            </a:r>
          </a:p>
          <a:p>
            <a:pPr/>
            <a:r>
              <a:rPr sz="2200"/>
              <a:t>Show your answers on fingers.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—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200"/>
              <a:t>Quadratic = degree 2; ax^2 + bx + c = 0 with a ≠ 0.</a:t>
            </a:r>
          </a:p>
          <a:p>
            <a:pPr/>
            <a:r>
              <a:rPr sz="2200"/>
              <a:t>Solve by factorisation / completing the square / quadratic formula.</a:t>
            </a:r>
          </a:p>
          <a:p>
            <a:pPr/>
            <a:r>
              <a:rPr sz="2200"/>
              <a:t>Discriminant D = b^2 − 4ac → nature of roots.</a:t>
            </a:r>
          </a:p>
          <a:p>
            <a:pPr/>
            <a:r>
              <a:rPr sz="2200"/>
              <a:t>Sum = −b/a; product = c/a.</a:t>
            </a:r>
          </a:p>
          <a:p>
            <a:pPr/>
            <a:r>
              <a:rPr sz="2200"/>
              <a:t>Word problems: set up, solve, REJECT non-physical roots.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