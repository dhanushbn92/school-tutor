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we organise time, and how we know what we know about the past.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uses.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Drill the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working.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Block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broad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families.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Quick sorting drill.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Layer order = time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Absolute dating.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Range of texts.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and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most-missed.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Timeline and Sources of History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6  ·  Social Science  ·  Timeline and Sources of History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Define a timeline and what it shows.</a:t>
            </a:r>
          </a:p>
          <a:p>
            <a:pPr/>
            <a:r>
              <a:rPr sz="2200"/>
              <a:t>Use BCE / CE and remember 'no year zero'.</a:t>
            </a:r>
          </a:p>
          <a:p>
            <a:pPr/>
            <a:r>
              <a:rPr sz="2200"/>
              <a:t>Sort events into Ancient / Medieval / Modern.</a:t>
            </a:r>
          </a:p>
          <a:p>
            <a:pPr/>
            <a:r>
              <a:rPr sz="2200"/>
              <a:t>Tell archaeological, literary and oral sources apart.</a:t>
            </a:r>
          </a:p>
          <a:p>
            <a:pPr/>
            <a:r>
              <a:rPr sz="2200"/>
              <a:t>Explain stratigraphy and radiocarbon dating.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timeline shows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Earlier events on the LEFT, later on the RIGHT.</a:t>
            </a:r>
          </a:p>
          <a:p>
            <a:pPr/>
            <a:r>
              <a:rPr sz="2200"/>
              <a:t>Spacing reflects elapsed years.</a:t>
            </a:r>
          </a:p>
          <a:p>
            <a:pPr/>
            <a:r>
              <a:rPr sz="2200"/>
              <a:t>It shows ORDER.</a:t>
            </a:r>
          </a:p>
          <a:p>
            <a:pPr/>
            <a:r>
              <a:rPr sz="2200"/>
              <a:t>It shows DURATION (length of an event).</a:t>
            </a:r>
          </a:p>
          <a:p>
            <a:pPr/>
            <a:r>
              <a:rPr sz="2200"/>
              <a:t>It shows SIMULTANEITY (what was happening elsewhere).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Counting years — BCE and 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 CE is the reference point.</a:t>
            </a:r>
          </a:p>
          <a:p>
            <a:pPr/>
            <a:r>
              <a:rPr sz="2200"/>
              <a:t>Years before = BCE; years after = CE.</a:t>
            </a:r>
          </a:p>
          <a:p>
            <a:pPr/>
            <a:r>
              <a:rPr sz="2200"/>
              <a:t>Bigger BCE = EARLIER (3000 BCE older than 2000 BCE).</a:t>
            </a:r>
          </a:p>
          <a:p>
            <a:pPr/>
            <a:r>
              <a:rPr sz="2200"/>
              <a:t>Bigger CE = LATER (2000 CE later than 1000 CE).</a:t>
            </a:r>
          </a:p>
          <a:p>
            <a:pPr/>
            <a:r>
              <a:rPr sz="2200"/>
              <a:t>NO YEAR ZERO — 1 BCE → 1 CE directly.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How many years between two dates?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Both BCE: subtract. (3000 BCE → 1500 BCE = 1500 years.)</a:t>
            </a:r>
          </a:p>
          <a:p>
            <a:pPr/>
            <a:r>
              <a:rPr sz="2200"/>
              <a:t>Both CE: subtract. (500 CE → 1500 CE = 1000 years.)</a:t>
            </a:r>
          </a:p>
          <a:p>
            <a:pPr/>
            <a:r>
              <a:rPr sz="2200"/>
              <a:t>Across the divide: ADD and subtract 1. (100 BCE → 100 CE = 199 years.)</a:t>
            </a:r>
          </a:p>
          <a:p>
            <a:pPr/>
            <a:r>
              <a:rPr sz="2200"/>
              <a:t>Why subtract 1? No year zero!</a:t>
            </a:r>
          </a:p>
          <a:p>
            <a:pPr/>
            <a:r>
              <a:rPr sz="2200"/>
              <a:t>Try: 1500 BCE → 500 CE = 1500 + 500 − 1 = 1999 years.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Big blocks of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Decade = 10 years.</a:t>
            </a:r>
          </a:p>
          <a:p>
            <a:pPr/>
            <a:r>
              <a:rPr sz="2200"/>
              <a:t>Century = 100 years (21st century = 2001–2100).</a:t>
            </a:r>
          </a:p>
          <a:p>
            <a:pPr/>
            <a:r>
              <a:rPr sz="2200"/>
              <a:t>Millennium = 1000 years.</a:t>
            </a:r>
          </a:p>
          <a:p>
            <a:pPr/>
            <a:r>
              <a:rPr sz="2200"/>
              <a:t>Stone, Bronze, Iron Age = main material for tools.</a:t>
            </a:r>
          </a:p>
          <a:p>
            <a:pPr/>
            <a:r>
              <a:rPr sz="2200"/>
              <a:t>Indian eras: Vikram Samvat (57 BCE), Shaka Samvat (78 CE).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broad periods of Indian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ANCIENT — up to ~700 CE: Harappan, Vedic, Mauryan, Gupta.</a:t>
            </a:r>
          </a:p>
          <a:p>
            <a:pPr/>
            <a:r>
              <a:rPr sz="2200"/>
              <a:t>MEDIEVAL — ~700 CE to ~1700 CE: Cholas, Delhi Sultanate, Vijayanagara, Mughals.</a:t>
            </a:r>
          </a:p>
          <a:p>
            <a:pPr/>
            <a:r>
              <a:rPr sz="2200"/>
              <a:t>MODERN — ~1700 CE onwards: British rule, freedom struggle, Independence.</a:t>
            </a:r>
          </a:p>
          <a:p>
            <a:pPr/>
            <a:r>
              <a:rPr sz="2200"/>
              <a:t>These are convenient labels, not sharp walls.</a:t>
            </a:r>
          </a:p>
          <a:p>
            <a:pPr/>
            <a:r>
              <a:rPr sz="2200"/>
              <a:t>Change is gradual.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we know the past —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SOURCE is any surviving evidence about the past.</a:t>
            </a:r>
          </a:p>
          <a:p>
            <a:pPr/>
            <a:r>
              <a:rPr sz="2200"/>
              <a:t>Three families: archaeological, literary, oral.</a:t>
            </a:r>
          </a:p>
          <a:p>
            <a:pPr/>
            <a:r>
              <a:rPr sz="2200"/>
              <a:t>ARCHAEOLOGICAL — physical objects: pottery, coins, ruins, bones, seeds.</a:t>
            </a:r>
          </a:p>
          <a:p>
            <a:pPr/>
            <a:r>
              <a:rPr sz="2200"/>
              <a:t>LITERARY — written texts: Vedas, epics, Tripiṭakas, inscriptions.</a:t>
            </a:r>
          </a:p>
          <a:p>
            <a:pPr/>
            <a:r>
              <a:rPr sz="2200"/>
              <a:t>ORAL — songs, stories, family genealogies.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Sort these into the right family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coin → archaeological.</a:t>
            </a:r>
          </a:p>
          <a:p>
            <a:pPr/>
            <a:r>
              <a:rPr sz="2200"/>
              <a:t>The Rigveda → literary.</a:t>
            </a:r>
          </a:p>
          <a:p>
            <a:pPr/>
            <a:r>
              <a:rPr sz="2200"/>
              <a:t>Grandmother's family song → oral.</a:t>
            </a:r>
          </a:p>
          <a:p>
            <a:pPr/>
            <a:r>
              <a:rPr sz="2200"/>
              <a:t>An Ashoka edict → literary (carved inscription).</a:t>
            </a:r>
          </a:p>
          <a:p>
            <a:pPr/>
            <a:r>
              <a:rPr sz="2200"/>
              <a:t>A piece of charcoal → archaeological.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Archaeology — digging up the past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Archaeologists EXCAVATE sites layer by layer.</a:t>
            </a:r>
          </a:p>
          <a:p>
            <a:pPr/>
            <a:r>
              <a:rPr sz="2200"/>
              <a:t>STRATIGRAPHY — older lies DEEPER.</a:t>
            </a:r>
          </a:p>
          <a:p>
            <a:pPr/>
            <a:r>
              <a:rPr sz="2200"/>
              <a:t>If Pot A is below Pot B, A is older.</a:t>
            </a:r>
          </a:p>
          <a:p>
            <a:pPr/>
            <a:r>
              <a:rPr sz="2200"/>
              <a:t>Famous Indian sites: Mohenjo-daro, Harappa, Dholavira, Lothal, Sānchī, Hampi, Ajanta, Ellora.</a:t>
            </a:r>
          </a:p>
          <a:p>
            <a:pPr/>
            <a:r>
              <a:rPr sz="2200"/>
              <a:t>Each layer tells a part of the story.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Putting numbers on dates — radiocarbon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RADIOCARBON (C-14) DATING measures C-14 in once-living material.</a:t>
            </a:r>
          </a:p>
          <a:p>
            <a:pPr/>
            <a:r>
              <a:rPr sz="2200"/>
              <a:t>Wood, charcoal, bone, seeds — all once alive.</a:t>
            </a:r>
          </a:p>
          <a:p>
            <a:pPr/>
            <a:r>
              <a:rPr sz="2200"/>
              <a:t>The older the sample, the less C-14 left.</a:t>
            </a:r>
          </a:p>
          <a:p>
            <a:pPr/>
            <a:r>
              <a:rPr sz="2200"/>
              <a:t>Cannot date pure stone or pure metal.</a:t>
            </a:r>
          </a:p>
          <a:p>
            <a:pPr/>
            <a:r>
              <a:rPr sz="2200"/>
              <a:t>Gives an age in years (with a small uncertainty).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Texts that tell us the past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The four VEDAS — Ṛig, Sāma, Yajur, Atharva.</a:t>
            </a:r>
          </a:p>
          <a:p>
            <a:pPr/>
            <a:r>
              <a:rPr sz="2200"/>
              <a:t>The two epics — Mahābhārata and Rāmāyaṇa.</a:t>
            </a:r>
          </a:p>
          <a:p>
            <a:pPr/>
            <a:r>
              <a:rPr sz="2200"/>
              <a:t>Buddhist Tripiṭakas (Pāli); Jaina Āgamas (Prakrit).</a:t>
            </a:r>
          </a:p>
          <a:p>
            <a:pPr/>
            <a:r>
              <a:rPr sz="2200"/>
              <a:t>Sangam literature in TAMIL — South India.</a:t>
            </a:r>
          </a:p>
          <a:p>
            <a:pPr/>
            <a:r>
              <a:rPr sz="2200"/>
              <a:t>Inscriptions — carved on stone / copper / pillars.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Ashoka's edicts and old coins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Ashoka carved inscriptions on rocks and pillars (3rd c. BCE).</a:t>
            </a:r>
          </a:p>
          <a:p>
            <a:pPr/>
            <a:r>
              <a:rPr sz="2200"/>
              <a:t>They tell us about his policies and his moral law (dhamma).</a:t>
            </a:r>
          </a:p>
          <a:p>
            <a:pPr/>
            <a:r>
              <a:rPr sz="2200"/>
              <a:t>Coins show kings' names, languages and symbols.</a:t>
            </a:r>
          </a:p>
          <a:p>
            <a:pPr/>
            <a:r>
              <a:rPr sz="2200"/>
              <a:t>A coin found far from where it was minted = trade.</a:t>
            </a:r>
          </a:p>
          <a:p>
            <a:pPr/>
            <a:r>
              <a:rPr sz="2200"/>
              <a:t>A king's inscription rarely tells us his FAILURES.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Asking questions of a source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WHO made it?</a:t>
            </a:r>
          </a:p>
          <a:p>
            <a:pPr/>
            <a:r>
              <a:rPr sz="2200"/>
              <a:t>WHEN was it made?</a:t>
            </a:r>
          </a:p>
          <a:p>
            <a:pPr/>
            <a:r>
              <a:rPr sz="2200"/>
              <a:t>WHY was it made?</a:t>
            </a:r>
          </a:p>
          <a:p>
            <a:pPr/>
            <a:r>
              <a:rPr sz="2200"/>
              <a:t>WHAT does it leave OUT?</a:t>
            </a:r>
          </a:p>
          <a:p>
            <a:pPr/>
            <a:r>
              <a:rPr sz="2200"/>
              <a:t>Does ANOTHER source agree?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How many years between 2000 BCE and 1000 CE?</a:t>
            </a:r>
          </a:p>
          <a:p>
            <a:pPr/>
            <a:r>
              <a:rPr sz="2200"/>
              <a:t>2. Sort: Mauryas, Cholas, Mughals, Independence — into Ancient / Medieval / Modern.</a:t>
            </a:r>
          </a:p>
          <a:p>
            <a:pPr/>
            <a:r>
              <a:rPr sz="2200"/>
              <a:t>3. Name one source for each family.</a:t>
            </a:r>
          </a:p>
          <a:p>
            <a:pPr/>
            <a:r>
              <a:rPr sz="2200"/>
              <a:t>4. Why can a stone tool not be C-14 dated?</a:t>
            </a:r>
          </a:p>
          <a:p>
            <a:pPr/>
            <a:r>
              <a:rPr sz="2200"/>
              <a:t>5. List three things you'd ask of a king's inscription.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Bigger BCE number — earlier or later?</a:t>
            </a:r>
          </a:p>
          <a:p>
            <a:pPr/>
            <a:r>
              <a:rPr sz="2200"/>
              <a:t>Q2. Decade vs century vs millennium — which is biggest?</a:t>
            </a:r>
          </a:p>
          <a:p>
            <a:pPr/>
            <a:r>
              <a:rPr sz="2200"/>
              <a:t>Q3. The Vedas — archaeological or literary source?</a:t>
            </a:r>
          </a:p>
          <a:p>
            <a:pPr/>
            <a:r>
              <a:rPr sz="2200"/>
              <a:t>Q4. Stratigraphy: older lies — deeper or higher?</a:t>
            </a:r>
          </a:p>
          <a:p>
            <a:pPr/>
            <a:r>
              <a:rPr sz="2200"/>
              <a:t>Show fingers.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Timeline = order + duration + simultaneity.</a:t>
            </a:r>
          </a:p>
          <a:p>
            <a:pPr/>
            <a:r>
              <a:rPr sz="2200"/>
              <a:t>BCE/CE: bigger BCE = older; bigger CE = later; NO year zero.</a:t>
            </a:r>
          </a:p>
          <a:p>
            <a:pPr/>
            <a:r>
              <a:rPr sz="2200"/>
              <a:t>Decade 10 / century 100 / millennium 1000 years.</a:t>
            </a:r>
          </a:p>
          <a:p>
            <a:pPr/>
            <a:r>
              <a:rPr sz="2200"/>
              <a:t>Indian history: Ancient → Medieval → Modern (~700 CE, ~1700 CE).</a:t>
            </a:r>
          </a:p>
          <a:p>
            <a:pPr/>
            <a:r>
              <a:rPr sz="2200"/>
              <a:t>Three source families: archaeological, literary, oral.</a:t>
            </a:r>
          </a:p>
          <a:p>
            <a:pPr/>
            <a:r>
              <a:rPr sz="2200"/>
              <a:t>Stratigraphy = relative dates; radiocarbon = absolute dates.</a:t>
            </a:r>
          </a:p>
          <a:p>
            <a:pPr/>
            <a:r>
              <a:rPr sz="2200"/>
              <a:t>Always cross-check sources and ask WHO / WHEN / WHY / WHAT IS LEFT 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