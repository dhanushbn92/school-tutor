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Foundations: every Sanskrit word is built from वर्णाः.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vowels.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Outside the five-group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each sound is made.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 activity 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matra placements.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Recite chorus.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Joint letters.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वर्णपरिचयः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6  ·  Sanskrit  ·  वर्णपरिचयः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Tell स्वर from व्यञ्जन.</a:t>
            </a:r>
          </a:p>
          <a:p>
            <a:pPr/>
            <a:r>
              <a:rPr sz="2200"/>
              <a:t>Recite 13 स्वराः and identify ह्रस्व / दीर्घ.</a:t>
            </a:r>
          </a:p>
          <a:p>
            <a:pPr/>
            <a:r>
              <a:rPr sz="2200"/>
              <a:t>Recite 33 व्यञ्जनानि and the 5 वर्गाः.</a:t>
            </a:r>
          </a:p>
          <a:p>
            <a:pPr/>
            <a:r>
              <a:rPr sz="2200"/>
              <a:t>Identify the 5 उच्चारण-स्थानानि.</a:t>
            </a:r>
          </a:p>
          <a:p>
            <a:pPr/>
            <a:r>
              <a:rPr sz="2200"/>
              <a:t>Form मात्रा-संयोगाः.</a:t>
            </a:r>
          </a:p>
          <a:p>
            <a:pPr/>
            <a:r>
              <a:rPr sz="2200"/>
              <a:t>Recognise संयुक्ताक्षराणि.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वर्णाः किम्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वर्णाः अक्षराणि — language's smallest sounds.</a:t>
            </a:r>
          </a:p>
          <a:p>
            <a:pPr/>
            <a:r>
              <a:rPr sz="2200"/>
              <a:t>Two kinds: स्वराः (vowels), व्यञ्जनानि (consonants).</a:t>
            </a:r>
          </a:p>
          <a:p>
            <a:pPr/>
            <a:r>
              <a:rPr sz="2200"/>
              <a:t>स्वराः उच्चार्यन्ते स्वतन्त्रतया।</a:t>
            </a:r>
          </a:p>
          <a:p>
            <a:pPr/>
            <a:r>
              <a:rPr sz="2200"/>
              <a:t>व्यञ्जनानि — स्वर-साहाय्येन।</a:t>
            </a:r>
          </a:p>
          <a:p>
            <a:pPr/>
            <a:r>
              <a:rPr sz="2200"/>
              <a:t>उच्चारण-स्थानानि पञ्च — कण्ठः, तालुः, मूर्धा, दन्ताः, ओष्ठौ।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स्वराः — १३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ह्रस्वाः चत्वारः: अ इ उ ऋ — एक-मात्रया।</a:t>
            </a:r>
          </a:p>
          <a:p>
            <a:pPr/>
            <a:r>
              <a:rPr sz="2200"/>
              <a:t>दीर्घाः नव: आ ई ऊ ॠ ए ऐ ओ औ — द्वि-मात्रया।</a:t>
            </a:r>
          </a:p>
          <a:p>
            <a:pPr/>
            <a:r>
              <a:rPr sz="2200"/>
              <a:t>अनुस्वारः (ं): अं — नासिक्यः।</a:t>
            </a:r>
          </a:p>
          <a:p>
            <a:pPr/>
            <a:r>
              <a:rPr sz="2200"/>
              <a:t>विसर्गः (ः): अः — नि:श्वासः।</a:t>
            </a:r>
          </a:p>
          <a:p>
            <a:pPr/>
            <a:r>
              <a:rPr sz="2200"/>
              <a:t>Recite together: अ आ इ ई उ ऊ ऋ ए ऐ ओ औ अं अः.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व्यञ्जनानि — ३३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पञ्च-वर्गाः: कवर्गः, चवर्गः, टवर्गः, तवर्गः, पवर्गः।</a:t>
            </a:r>
          </a:p>
          <a:p>
            <a:pPr/>
            <a:r>
              <a:rPr sz="2200"/>
              <a:t>कवर्गः: क ख ग घ ङ.</a:t>
            </a:r>
          </a:p>
          <a:p>
            <a:pPr/>
            <a:r>
              <a:rPr sz="2200"/>
              <a:t>चवर्गः: च छ ज झ ञ.</a:t>
            </a:r>
          </a:p>
          <a:p>
            <a:pPr/>
            <a:r>
              <a:rPr sz="2200"/>
              <a:t>टवर्गः: ट ठ ड ढ ण.</a:t>
            </a:r>
          </a:p>
          <a:p>
            <a:pPr/>
            <a:r>
              <a:rPr sz="2200"/>
              <a:t>तवर्गः: त थ द ध न. पवर्गः: प फ ब भ म.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व्यञ्जनानि — अन्तःस्थाः, ऊष्माणः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अन्तःस्थाः चत्वारः: य र ल व.</a:t>
            </a:r>
          </a:p>
          <a:p>
            <a:pPr/>
            <a:r>
              <a:rPr sz="2200"/>
              <a:t>ऊष्माणः चत्वारः: श ष स ह.</a:t>
            </a:r>
          </a:p>
          <a:p>
            <a:pPr/>
            <a:r>
              <a:rPr sz="2200"/>
              <a:t>एते सर्वे ३३ व्यञ्जनानि.</a:t>
            </a:r>
          </a:p>
          <a:p>
            <a:pPr/>
            <a:r>
              <a:rPr sz="2200"/>
              <a:t>प्रत्येकं वर्गस्य पञ्चमः अनुनासिकः.</a:t>
            </a:r>
          </a:p>
          <a:p>
            <a:pPr/>
            <a:r>
              <a:rPr sz="2200"/>
              <a:t>अल्पप्राण / महाप्राण — air-flow.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उच्चारण-स्थानानि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कण्ठ्याः: अ आ; क-वर्गः; ह.</a:t>
            </a:r>
          </a:p>
          <a:p>
            <a:pPr/>
            <a:r>
              <a:rPr sz="2200"/>
              <a:t>तालव्याः: इ ई; च-वर्गः; य; श.</a:t>
            </a:r>
          </a:p>
          <a:p>
            <a:pPr/>
            <a:r>
              <a:rPr sz="2200"/>
              <a:t>मूर्धन्याः: ऋ ॠ; ट-वर्गः; र; ष.</a:t>
            </a:r>
          </a:p>
          <a:p>
            <a:pPr/>
            <a:r>
              <a:rPr sz="2200"/>
              <a:t>दन्त्याः: त-वर्गः; ल; स.</a:t>
            </a:r>
          </a:p>
          <a:p>
            <a:pPr/>
            <a:r>
              <a:rPr sz="2200"/>
              <a:t>ओष्ठ्याः: उ ऊ; प-वर्गः.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उच्चारण in the mirror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अ — कण्ठ खुलति.</a:t>
            </a:r>
          </a:p>
          <a:p>
            <a:pPr/>
            <a:r>
              <a:rPr sz="2200"/>
              <a:t>इ — जिह्वा तालुं स्पृशति.</a:t>
            </a:r>
          </a:p>
          <a:p>
            <a:pPr/>
            <a:r>
              <a:rPr sz="2200"/>
              <a:t>उ — ओष्ठौ गोलौ.</a:t>
            </a:r>
          </a:p>
          <a:p>
            <a:pPr/>
            <a:r>
              <a:rPr sz="2200"/>
              <a:t>क — कण्ठात्.</a:t>
            </a:r>
          </a:p>
          <a:p>
            <a:pPr/>
            <a:r>
              <a:rPr sz="2200"/>
              <a:t>त — दन्तेषु जिह्वा.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मात्राः — व्यञ्जन + स्वर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क + आ = का; क + इ = कि; क + ई = की.</a:t>
            </a:r>
          </a:p>
          <a:p>
            <a:pPr/>
            <a:r>
              <a:rPr sz="2200"/>
              <a:t>क + उ = कु; क + ऊ = कू.</a:t>
            </a:r>
          </a:p>
          <a:p>
            <a:pPr/>
            <a:r>
              <a:rPr sz="2200"/>
              <a:t>क + ए = के; क + ऐ = कै.</a:t>
            </a:r>
          </a:p>
          <a:p>
            <a:pPr/>
            <a:r>
              <a:rPr sz="2200"/>
              <a:t>क + ओ = को; क + औ = कौ.</a:t>
            </a:r>
          </a:p>
          <a:p>
            <a:pPr/>
            <a:r>
              <a:rPr sz="2200"/>
              <a:t>इ पूर्वम् लिख्यते; ई पश्चात्; उ ऊ अधः; ए ऐ उपरि.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Matra-drill with 'न'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न ना नि नी नु नू.</a:t>
            </a:r>
          </a:p>
          <a:p>
            <a:pPr/>
            <a:r>
              <a:rPr sz="2200"/>
              <a:t>ने नै नो नौ.</a:t>
            </a:r>
          </a:p>
          <a:p>
            <a:pPr/>
            <a:r>
              <a:rPr sz="2200"/>
              <a:t>नं (अनुस्वारः).</a:t>
            </a:r>
          </a:p>
          <a:p>
            <a:pPr/>
            <a:r>
              <a:rPr sz="2200"/>
              <a:t>नः (विसर्गः).</a:t>
            </a:r>
          </a:p>
          <a:p>
            <a:pPr/>
            <a:r>
              <a:rPr sz="2200"/>
              <a:t>Together: 12 forms!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संयुक्ताक्षराणि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व्यञ्जन + व्यञ्जन (स्वर-रहितः) → संयुक्ताक्षरम्.</a:t>
            </a:r>
          </a:p>
          <a:p>
            <a:pPr/>
            <a:r>
              <a:rPr sz="2200"/>
              <a:t>क् + ष = क्ष.</a:t>
            </a:r>
          </a:p>
          <a:p>
            <a:pPr/>
            <a:r>
              <a:rPr sz="2200"/>
              <a:t>त् + र = त्र.</a:t>
            </a:r>
          </a:p>
          <a:p>
            <a:pPr/>
            <a:r>
              <a:rPr sz="2200"/>
              <a:t>ज् + ञ = ज्ञ.</a:t>
            </a:r>
          </a:p>
          <a:p>
            <a:pPr/>
            <a:r>
              <a:rPr sz="2200"/>
              <a:t>श् + र = श्र; द् + व = द्व; प् + र = प्र.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देवनागरी-लिपिः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संस्कृत-हिन्दी-मराठी-नेपाली अस्यां लिख्यन्ते.</a:t>
            </a:r>
          </a:p>
          <a:p>
            <a:pPr/>
            <a:r>
              <a:rPr sz="2200"/>
              <a:t>विशेष-लक्षणम् — शिरोरेखा (top horizontal line).</a:t>
            </a:r>
          </a:p>
          <a:p>
            <a:pPr/>
            <a:r>
              <a:rPr sz="2200"/>
              <a:t>मात्राः निश्चित-स्थानेषु.</a:t>
            </a:r>
          </a:p>
          <a:p>
            <a:pPr/>
            <a:r>
              <a:rPr sz="2200"/>
              <a:t>देवनागरी-संख्याः: ० १ २ ३ ४ ५ ६ ७ ८ ९.</a:t>
            </a:r>
          </a:p>
          <a:p>
            <a:pPr/>
            <a:r>
              <a:rPr sz="2200"/>
              <a:t>लेखन-क्रमः — प्रथम आकारः, ततः शिरोरेखा.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अभ्यासः (5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१. ह्रस्व-स्वराः कति? लिखत।</a:t>
            </a:r>
          </a:p>
          <a:p>
            <a:pPr/>
            <a:r>
              <a:rPr sz="2200"/>
              <a:t>२. कवर्गस्य अनुनासिकः कः?</a:t>
            </a:r>
          </a:p>
          <a:p>
            <a:pPr/>
            <a:r>
              <a:rPr sz="2200"/>
              <a:t>३. क + ई = ?</a:t>
            </a:r>
          </a:p>
          <a:p>
            <a:pPr/>
            <a:r>
              <a:rPr sz="2200"/>
              <a:t>४. क् + ष = ? कथम्?</a:t>
            </a:r>
          </a:p>
          <a:p>
            <a:pPr/>
            <a:r>
              <a:rPr sz="2200"/>
              <a:t>५. 'त' इति वर्णः कुतः उच्चार्यते?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अ ह्रस्वः वा दीर्घः वा?</a:t>
            </a:r>
          </a:p>
          <a:p>
            <a:pPr/>
            <a:r>
              <a:rPr sz="2200"/>
              <a:t>Q2. व्यञ्जनानि कति?</a:t>
            </a:r>
          </a:p>
          <a:p>
            <a:pPr/>
            <a:r>
              <a:rPr sz="2200"/>
              <a:t>Q3. पवर्गः कुतः उच्चार्यते?</a:t>
            </a:r>
          </a:p>
          <a:p>
            <a:pPr/>
            <a:r>
              <a:rPr sz="2200"/>
              <a:t>Q4. क्ष = क् + ?</a:t>
            </a:r>
          </a:p>
          <a:p>
            <a:pPr/>
            <a:r>
              <a:rPr sz="2200"/>
              <a:t>Show fingers.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सङ्क्षेपः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संस्कृत — देवनागरी-लिपौ.</a:t>
            </a:r>
          </a:p>
          <a:p>
            <a:pPr/>
            <a:r>
              <a:rPr sz="2200"/>
              <a:t>१३ स्वराः; ३३ व्यञ्जनानि.</a:t>
            </a:r>
          </a:p>
          <a:p>
            <a:pPr/>
            <a:r>
              <a:rPr sz="2200"/>
              <a:t>पञ्च-वर्गाः: क-च-ट-त-प.</a:t>
            </a:r>
          </a:p>
          <a:p>
            <a:pPr/>
            <a:r>
              <a:rPr sz="2200"/>
              <a:t>उच्चारण-स्थानानि पञ्च: कण्ठ-तालु-मूर्ध-दन्त-ओष्ठ.</a:t>
            </a:r>
          </a:p>
          <a:p>
            <a:pPr/>
            <a:r>
              <a:rPr sz="2200"/>
              <a:t>मात्राः व्यञ्जन-स्वर-मेलनम्.</a:t>
            </a:r>
          </a:p>
          <a:p>
            <a:pPr/>
            <a:r>
              <a:rPr sz="2200"/>
              <a:t>संयुक्ताक्षराणि — क्ष त्र ज्ञ.</a:t>
            </a:r>
          </a:p>
          <a:p>
            <a:pPr/>
            <a:r>
              <a:rPr sz="2200"/>
              <a:t>देवनागरी-विशेषता शिरोरेखा.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