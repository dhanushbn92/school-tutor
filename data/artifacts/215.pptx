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kitchen to lab — chemistry of acids, bases and salts.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indicator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signature reactions.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image of acid reactions.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ions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confusion — clarify.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this safety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universal indicator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practical uses of 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Salt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industrial salts.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worksheet;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Acids, Bases and Salts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Science  ·  Acids, Bases and Salts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Tell acids and bases apart with indicators.</a:t>
            </a:r>
          </a:p>
          <a:p>
            <a:pPr/>
            <a:r>
              <a:rPr sz="2200"/>
              <a:t>Predict and balance acid + metal / carbonate / oxide reactions.</a:t>
            </a:r>
          </a:p>
          <a:p>
            <a:pPr/>
            <a:r>
              <a:rPr sz="2200"/>
              <a:t>Explain neutralisation and the H⁺/OH⁻ ions.</a:t>
            </a:r>
          </a:p>
          <a:p>
            <a:pPr/>
            <a:r>
              <a:rPr sz="2200"/>
              <a:t>Use the pH scale.</a:t>
            </a:r>
          </a:p>
          <a:p>
            <a:pPr/>
            <a:r>
              <a:rPr sz="2200"/>
              <a:t>Identify common salts (NaOH, NaHCO₃, Na₂CO₃, plaster of Paris) and their 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Acids and Bases — meet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Acids: sour, turn blue litmus red. (lemon, vinegar, HCl)</a:t>
            </a:r>
          </a:p>
          <a:p>
            <a:pPr/>
            <a:r>
              <a:rPr sz="2200"/>
              <a:t>Bases: bitter, soapy, turn red litmus blue. (soap, NaOH)</a:t>
            </a:r>
          </a:p>
          <a:p>
            <a:pPr/>
            <a:r>
              <a:rPr sz="2200"/>
              <a:t>WARNING: never taste an unknown chemical!</a:t>
            </a:r>
          </a:p>
          <a:p>
            <a:pPr/>
            <a:r>
              <a:rPr sz="2200"/>
              <a:t>Use INDICATORS instead.</a:t>
            </a:r>
          </a:p>
          <a:p>
            <a:pPr/>
            <a:r>
              <a:rPr sz="2200"/>
              <a:t>Common indicators: litmus, methyl orange, phenolphthalein, universal.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reactions of acids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Acid + Metal → Salt + H₂↑.</a:t>
            </a:r>
          </a:p>
          <a:p>
            <a:pPr/>
            <a:r>
              <a:rPr sz="2200"/>
              <a:t>Example: Zn + 2 HCl → ZnCl₂ + H₂↑.</a:t>
            </a:r>
          </a:p>
          <a:p>
            <a:pPr/>
            <a:r>
              <a:rPr sz="2200"/>
              <a:t>2. Acid + Metal carbonate → Salt + H₂O + CO₂↑.</a:t>
            </a:r>
          </a:p>
          <a:p>
            <a:pPr/>
            <a:r>
              <a:rPr sz="2200"/>
              <a:t>Example: 2 HCl + CaCO₃ → CaCl₂ + H₂O + CO₂↑.</a:t>
            </a:r>
          </a:p>
          <a:p>
            <a:pPr/>
            <a:r>
              <a:rPr sz="2200"/>
              <a:t>3. Acid + Metal oxide → Salt + H₂O. (CuO + 2 HCl → CuCl₂ + H₂O.)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reactions of 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Base + Non-metallic oxide → Salt + H₂O.</a:t>
            </a:r>
          </a:p>
          <a:p>
            <a:pPr/>
            <a:r>
              <a:rPr sz="2200"/>
              <a:t>Example: 2 NaOH + CO₂ → Na₂CO₃ + H₂O.</a:t>
            </a:r>
          </a:p>
          <a:p>
            <a:pPr/>
            <a:r>
              <a:rPr sz="2200"/>
              <a:t>2. Base + Acid → Salt + H₂O. (Neutralisation.)</a:t>
            </a:r>
          </a:p>
          <a:p>
            <a:pPr/>
            <a:r>
              <a:rPr sz="2200"/>
              <a:t>Example: HCl + NaOH → NaCl + H₂O.</a:t>
            </a:r>
          </a:p>
          <a:p>
            <a:pPr/>
            <a:r>
              <a:rPr sz="2200"/>
              <a:t>3. Some bases react with metals: Zn + 2 NaOH → Na₂ZnO₂ + H₂↑.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CO₂ test (lime water)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CO₂ from a reaction is bubbled through lime water.</a:t>
            </a:r>
          </a:p>
          <a:p>
            <a:pPr/>
            <a:r>
              <a:rPr sz="2200"/>
              <a:t>Lime water Ca(OH)₂ turns MILKY.</a:t>
            </a:r>
          </a:p>
          <a:p>
            <a:pPr/>
            <a:r>
              <a:rPr sz="2200"/>
              <a:t>CO₂ + Ca(OH)₂ → CaCO₃↓ + H₂O.</a:t>
            </a:r>
          </a:p>
          <a:p>
            <a:pPr/>
            <a:r>
              <a:rPr sz="2200"/>
              <a:t>The white CaCO₃ precipitate is the milky look.</a:t>
            </a:r>
          </a:p>
          <a:p>
            <a:pPr/>
            <a:r>
              <a:rPr sz="2200"/>
              <a:t>This is the classic lab test for CO₂.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ALL acids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In water, every acid releases H⁺ (forms H₃O⁺).</a:t>
            </a:r>
          </a:p>
          <a:p>
            <a:pPr/>
            <a:r>
              <a:rPr sz="2200"/>
              <a:t>Every alkaline base releases OH⁻.</a:t>
            </a:r>
          </a:p>
          <a:p>
            <a:pPr/>
            <a:r>
              <a:rPr sz="2200"/>
              <a:t>These ions are why ALL acids share similar properties.</a:t>
            </a:r>
          </a:p>
          <a:p>
            <a:pPr/>
            <a:r>
              <a:rPr sz="2200"/>
              <a:t>Pure HCl gas does NOT conduct (no ions); HCl(aq) conducts.</a:t>
            </a:r>
          </a:p>
          <a:p>
            <a:pPr/>
            <a:r>
              <a:rPr sz="2200"/>
              <a:t>Strong acid: ionises COMPLETELY. Weak acid: ionises PARTIALLY.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/ weak vs concentrated / dilute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STRONG: about IONISATION (does it split into ions?).</a:t>
            </a:r>
          </a:p>
          <a:p>
            <a:pPr/>
            <a:r>
              <a:rPr sz="2200"/>
              <a:t>Strong: HCl, H₂SO₄. Weak: acetic, citric.</a:t>
            </a:r>
          </a:p>
          <a:p>
            <a:pPr/>
            <a:r>
              <a:rPr sz="2200"/>
              <a:t>CONCENTRATED: about AMOUNT (how much per litre?).</a:t>
            </a:r>
          </a:p>
          <a:p>
            <a:pPr/>
            <a:r>
              <a:rPr sz="2200"/>
              <a:t>These are INDEPENDENT — you can have:</a:t>
            </a:r>
          </a:p>
          <a:p>
            <a:pPr/>
            <a:r>
              <a:rPr sz="2200"/>
              <a:t>  Dilute strong (HCl 0.01 M) or concentrated weak (acetic 17 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Safety: dilution of concentrated acid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Always add ACID to WATER — never the reverse!</a:t>
            </a:r>
          </a:p>
          <a:p>
            <a:pPr/>
            <a:r>
              <a:rPr sz="2200"/>
              <a:t>Why: dilution releases lots of HEAT.</a:t>
            </a:r>
          </a:p>
          <a:p>
            <a:pPr/>
            <a:r>
              <a:rPr sz="2200"/>
              <a:t>If you add water to acid, the water boils → acid splashes.</a:t>
            </a:r>
          </a:p>
          <a:p>
            <a:pPr/>
            <a:r>
              <a:rPr sz="2200"/>
              <a:t>Safe order: large beaker of water + acid added slowly.</a:t>
            </a:r>
          </a:p>
          <a:p>
            <a:pPr/>
            <a:r>
              <a:rPr sz="2200"/>
              <a:t>Wear safety goggles and rubber gloves.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pH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0 to 14. 7 = NEUTRAL.</a:t>
            </a:r>
          </a:p>
          <a:p>
            <a:pPr/>
            <a:r>
              <a:rPr sz="2200"/>
              <a:t>Below 7 = acidic (lower number = more acidic).</a:t>
            </a:r>
          </a:p>
          <a:p>
            <a:pPr/>
            <a:r>
              <a:rPr sz="2200"/>
              <a:t>Above 7 = basic (higher number = more basic).</a:t>
            </a:r>
          </a:p>
          <a:p>
            <a:pPr/>
            <a:r>
              <a:rPr sz="2200"/>
              <a:t>Each unit = 10× change in [H⁺].</a:t>
            </a:r>
          </a:p>
          <a:p>
            <a:pPr/>
            <a:r>
              <a:rPr sz="2200"/>
              <a:t>Universal indicator gives the colour at each pH.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of common substances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Lemon ≈ 2; vinegar ≈ 3; coffee ≈ 5.</a:t>
            </a:r>
          </a:p>
          <a:p>
            <a:pPr/>
            <a:r>
              <a:rPr sz="2200"/>
              <a:t>Pure water = 7.</a:t>
            </a:r>
          </a:p>
          <a:p>
            <a:pPr/>
            <a:r>
              <a:rPr sz="2200"/>
              <a:t>Blood ≈ 7.4; sea water ≈ 8.</a:t>
            </a:r>
          </a:p>
          <a:p>
            <a:pPr/>
            <a:r>
              <a:rPr sz="2200"/>
              <a:t>Soap ≈ 10; ammonia ≈ 11.</a:t>
            </a:r>
          </a:p>
          <a:p>
            <a:pPr/>
            <a:r>
              <a:rPr sz="2200"/>
              <a:t>Drain cleaner / NaOH ≈ 14.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pH matters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Tooth decay starts when mouth pH &lt; 5.5.</a:t>
            </a:r>
          </a:p>
          <a:p>
            <a:pPr/>
            <a:r>
              <a:rPr sz="2200"/>
              <a:t>Acid rain (pH &lt; 5.5) damages crops + buildings.</a:t>
            </a:r>
          </a:p>
          <a:p>
            <a:pPr/>
            <a:r>
              <a:rPr sz="2200"/>
              <a:t>Soil — most plants need pH 6-7.5.</a:t>
            </a:r>
          </a:p>
          <a:p>
            <a:pPr/>
            <a:r>
              <a:rPr sz="2200"/>
              <a:t>Bee sting (acidic) → relief: baking soda.</a:t>
            </a:r>
          </a:p>
          <a:p>
            <a:pPr/>
            <a:r>
              <a:rPr sz="2200"/>
              <a:t>Wasp sting (alkaline) → relief: vinegar.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Salts — products of acid +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Salt: AB + CD → AD + CB; product of acid + base.</a:t>
            </a:r>
          </a:p>
          <a:p>
            <a:pPr/>
            <a:r>
              <a:rPr sz="2200"/>
              <a:t>NaCl from HCl + NaOH (neutral).</a:t>
            </a:r>
          </a:p>
          <a:p>
            <a:pPr/>
            <a:r>
              <a:rPr sz="2200"/>
              <a:t>NH₄Cl from HCl + NH₃ (acidic).</a:t>
            </a:r>
          </a:p>
          <a:p>
            <a:pPr/>
            <a:r>
              <a:rPr sz="2200"/>
              <a:t>CH₃COONa from CH₃COOH + NaOH (basic).</a:t>
            </a:r>
          </a:p>
          <a:p>
            <a:pPr/>
            <a:r>
              <a:rPr sz="2200"/>
              <a:t>pH of salt depends on parent acid + base strengths.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salts from common salt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Chlor-alkali: 2 NaCl + 2 H₂O → 2 NaOH + Cl₂ + H₂ (electrolysis).</a:t>
            </a:r>
          </a:p>
          <a:p>
            <a:pPr/>
            <a:r>
              <a:rPr sz="2200"/>
              <a:t>Bleaching powder: Ca(OH)₂ + Cl₂ → CaOCl₂.</a:t>
            </a:r>
          </a:p>
          <a:p>
            <a:pPr/>
            <a:r>
              <a:rPr sz="2200"/>
              <a:t>Baking soda: NaHCO₃ — baking, antacid.</a:t>
            </a:r>
          </a:p>
          <a:p>
            <a:pPr/>
            <a:r>
              <a:rPr sz="2200"/>
              <a:t>Washing soda: Na₂CO₃·10 H₂O — detergents.</a:t>
            </a:r>
          </a:p>
          <a:p>
            <a:pPr/>
            <a:r>
              <a:rPr sz="2200"/>
              <a:t>Plaster of Paris: CaSO₄·½ H₂O — casts.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Lemon juice — acid or base? pH range?</a:t>
            </a:r>
          </a:p>
          <a:p>
            <a:pPr/>
            <a:r>
              <a:rPr sz="2200"/>
              <a:t>2. Balance: Mg + 2 HCl → ?</a:t>
            </a:r>
          </a:p>
          <a:p>
            <a:pPr/>
            <a:r>
              <a:rPr sz="2200"/>
              <a:t>3. Why pour acid into water?</a:t>
            </a:r>
          </a:p>
          <a:p>
            <a:pPr/>
            <a:r>
              <a:rPr sz="2200"/>
              <a:t>4. What is the colour of CuSO₄·5 H₂O? After heating?</a:t>
            </a:r>
          </a:p>
          <a:p>
            <a:pPr/>
            <a:r>
              <a:rPr sz="2200"/>
              <a:t>5. Name two uses of bleaching powder.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Phenolphthalein — colour in base?</a:t>
            </a:r>
          </a:p>
          <a:p>
            <a:pPr/>
            <a:r>
              <a:rPr sz="2200"/>
              <a:t>Q2. pH of a strong acid?</a:t>
            </a:r>
          </a:p>
          <a:p>
            <a:pPr/>
            <a:r>
              <a:rPr sz="2200"/>
              <a:t>Q3. Acid + Carbonate → ? + ? + ?.</a:t>
            </a:r>
          </a:p>
          <a:p>
            <a:pPr/>
            <a:r>
              <a:rPr sz="2200"/>
              <a:t>Q4. Sting of a bee — relief with which?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Acid: H⁺ in water; turns blue litmus red.</a:t>
            </a:r>
          </a:p>
          <a:p>
            <a:pPr/>
            <a:r>
              <a:rPr sz="2200"/>
              <a:t>Base: OH⁻; turns red litmus blue.</a:t>
            </a:r>
          </a:p>
          <a:p>
            <a:pPr/>
            <a:r>
              <a:rPr sz="2200"/>
              <a:t>3 acid reactions: with metals, carbonates, metal oxides.</a:t>
            </a:r>
          </a:p>
          <a:p>
            <a:pPr/>
            <a:r>
              <a:rPr sz="2200"/>
              <a:t>Strong / weak (ionisation); concentrated / dilute (amount).</a:t>
            </a:r>
          </a:p>
          <a:p>
            <a:pPr/>
            <a:r>
              <a:rPr sz="2200"/>
              <a:t>pH 0-14; tooth decay below 5.5.</a:t>
            </a:r>
          </a:p>
          <a:p>
            <a:pPr/>
            <a:r>
              <a:rPr sz="2200"/>
              <a:t>Common salt → NaOH, Cl₂, baking &amp; washing soda, plaster of Paris.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