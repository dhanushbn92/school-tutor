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Sequences with a fixed step — APs — are everywhere from loans to stadium seats.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each; ask which seems hardest before starting.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'all consecutive differences must be equal'.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1, 4, 9, 16 as a non-AP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derivation slowly the first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this on the board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n is not a positive integer, the value is NOT a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appears often in NIOS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verify by recomputing.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forms are equivalent; use whichever is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order of operations inside the bracket.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l is given, the (a + l) form is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 'insert n AMs' as 'build an (n+2)-term AP'.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list and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 for keywords: 'each next', 'fixed', 'every year'.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around; help stuck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who hesitates.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Remind: next chapter — Percentage and Its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Arithmetic Progressions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Mathematics  ·  Arithmetic Progressions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Recognise an AP and find its first term and common difference.</a:t>
            </a:r>
          </a:p>
          <a:p>
            <a:pPr/>
            <a:r>
              <a:rPr sz="2200"/>
              <a:t>Apply the nth-term formula aₙ = a + (n − 1)d.</a:t>
            </a:r>
          </a:p>
          <a:p>
            <a:pPr/>
            <a:r>
              <a:rPr sz="2200"/>
              <a:t>Recover (a, d) from any two terms.</a:t>
            </a:r>
          </a:p>
          <a:p>
            <a:pPr/>
            <a:r>
              <a:rPr sz="2200"/>
              <a:t>Apply the sum formula Sₙ = n/2·[2a + (n − 1)d].</a:t>
            </a:r>
          </a:p>
          <a:p>
            <a:pPr/>
            <a:r>
              <a:rPr sz="2200"/>
              <a:t>Insert arithmetic means between two numbers.</a:t>
            </a:r>
          </a:p>
          <a:p>
            <a:pPr/>
            <a:r>
              <a:rPr sz="2200"/>
              <a:t>Translate uniform-step word problems into 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vs 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Sequence: ordered list a₁, a₂, a₃, …</a:t>
            </a:r>
          </a:p>
          <a:p>
            <a:pPr/>
            <a:r>
              <a:rPr sz="2200"/>
              <a:t>AP: consecutive differences are EQUAL.</a:t>
            </a:r>
          </a:p>
          <a:p>
            <a:pPr/>
            <a:r>
              <a:rPr sz="2200"/>
              <a:t>Common difference d = aₙ − aₙ₋₁.</a:t>
            </a:r>
          </a:p>
          <a:p>
            <a:pPr/>
            <a:r>
              <a:rPr sz="2200"/>
              <a:t>Standard form: a, a + d, a + 2d, …</a:t>
            </a:r>
          </a:p>
          <a:p>
            <a:pPr/>
            <a:r>
              <a:rPr sz="2200"/>
              <a:t>(a, d) determines the entire 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 — three classes by sign of 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 &gt; 0: INCREASING. e.g. 5, 9, 13, 17, …</a:t>
            </a:r>
          </a:p>
          <a:p>
            <a:pPr/>
            <a:r>
              <a:rPr sz="2200"/>
              <a:t>d &lt; 0: DECREASING. e.g. 10, 7, 4, 1, …</a:t>
            </a:r>
          </a:p>
          <a:p>
            <a:pPr/>
            <a:r>
              <a:rPr sz="2200"/>
              <a:t>d = 0: CONSTANT. e.g. 7, 7, 7, 7, …</a:t>
            </a:r>
          </a:p>
          <a:p>
            <a:pPr/>
            <a:r>
              <a:rPr sz="2200"/>
              <a:t>Quick test: take ALL consecutive differences.</a:t>
            </a:r>
          </a:p>
          <a:p>
            <a:pPr/>
            <a:r>
              <a:rPr sz="2200"/>
              <a:t>If any one differs, NOT an 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nth term — derivation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a₁ = a.</a:t>
            </a:r>
          </a:p>
          <a:p>
            <a:pPr/>
            <a:r>
              <a:rPr sz="2200"/>
              <a:t>a₂ = a + d.</a:t>
            </a:r>
          </a:p>
          <a:p>
            <a:pPr/>
            <a:r>
              <a:rPr sz="2200"/>
              <a:t>a₃ = a + 2d.</a:t>
            </a:r>
          </a:p>
          <a:p>
            <a:pPr/>
            <a:r>
              <a:rPr sz="2200"/>
              <a:t>After (n − 1) jumps: aₙ = a + (n − 1)·d.</a:t>
            </a:r>
          </a:p>
          <a:p>
            <a:pPr/>
            <a:r>
              <a:rPr sz="2200"/>
              <a:t>Memorise this — every problem uses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 example — find a₁₀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AP: 2, 5, 8, 11, …</a:t>
            </a:r>
          </a:p>
          <a:p>
            <a:pPr/>
            <a:r>
              <a:rPr sz="2200"/>
              <a:t>a = 2, d = 3.</a:t>
            </a:r>
          </a:p>
          <a:p>
            <a:pPr/>
            <a:r>
              <a:rPr sz="2200"/>
              <a:t>a₁₀ = 2 + 9·3 = 2 + 27 = 29.</a:t>
            </a:r>
          </a:p>
          <a:p>
            <a:pPr/>
            <a:r>
              <a:rPr sz="2200"/>
              <a:t>Check: a₂₀ = 2 + 19·3 = 59.</a:t>
            </a:r>
          </a:p>
          <a:p>
            <a:pPr/>
            <a:r>
              <a:rPr sz="2200"/>
              <a:t>Substitution is mechanical.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 example — find n given aₙ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AP: 3, 7, 11, 15, …</a:t>
            </a:r>
          </a:p>
          <a:p>
            <a:pPr/>
            <a:r>
              <a:rPr sz="2200"/>
              <a:t>Is 99 a term?  a + (n − 1)d = 99.</a:t>
            </a:r>
          </a:p>
          <a:p>
            <a:pPr/>
            <a:r>
              <a:rPr sz="2200"/>
              <a:t>3 + (n − 1)·4 = 99.</a:t>
            </a:r>
          </a:p>
          <a:p>
            <a:pPr/>
            <a:r>
              <a:rPr sz="2200"/>
              <a:t>n − 1 = 24 → n = 25.</a:t>
            </a:r>
          </a:p>
          <a:p>
            <a:pPr/>
            <a:r>
              <a:rPr sz="2200"/>
              <a:t>Yes — 99 is the 25th term.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Two-term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Given aₘ and aₙ (m ≠ n):</a:t>
            </a:r>
          </a:p>
          <a:p>
            <a:pPr/>
            <a:r>
              <a:rPr sz="2200"/>
              <a:t>d = (aₙ − aₘ)/(n − m).</a:t>
            </a:r>
          </a:p>
          <a:p>
            <a:pPr/>
            <a:r>
              <a:rPr sz="2200"/>
              <a:t>Then a = aₙ − (n − 1)d.</a:t>
            </a:r>
          </a:p>
          <a:p>
            <a:pPr/>
            <a:r>
              <a:rPr sz="2200"/>
              <a:t>Useful when (a, d) are not given.</a:t>
            </a:r>
          </a:p>
          <a:p>
            <a:pPr/>
            <a:r>
              <a:rPr sz="2200"/>
              <a:t>Check by listing the 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 example — recover the 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a₄ = 14, a₁₀ = 38. Find AP.</a:t>
            </a:r>
          </a:p>
          <a:p>
            <a:pPr/>
            <a:r>
              <a:rPr sz="2200"/>
              <a:t>d = (38 − 14)/(10 − 4) = 24/6 = 4.</a:t>
            </a:r>
          </a:p>
          <a:p>
            <a:pPr/>
            <a:r>
              <a:rPr sz="2200"/>
              <a:t>a = 14 − 3·4 = 2.</a:t>
            </a:r>
          </a:p>
          <a:p>
            <a:pPr/>
            <a:r>
              <a:rPr sz="2200"/>
              <a:t>AP: 2, 6, 10, 14, …</a:t>
            </a:r>
          </a:p>
          <a:p>
            <a:pPr/>
            <a:r>
              <a:rPr sz="2200"/>
              <a:t>Verify: a₁₀ = 2 + 9·4 = 38. 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 of n terms — derivation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Pair first + last, second + second-last, …</a:t>
            </a:r>
          </a:p>
          <a:p>
            <a:pPr/>
            <a:r>
              <a:rPr sz="2200"/>
              <a:t>Each pair sums to a + l.</a:t>
            </a:r>
          </a:p>
          <a:p>
            <a:pPr/>
            <a:r>
              <a:rPr sz="2200"/>
              <a:t>n/2 such pairs.</a:t>
            </a:r>
          </a:p>
          <a:p>
            <a:pPr/>
            <a:r>
              <a:rPr sz="2200"/>
              <a:t>Sₙ = n/2 · (a + l).</a:t>
            </a:r>
          </a:p>
          <a:p>
            <a:pPr/>
            <a:r>
              <a:rPr sz="2200"/>
              <a:t>Substitute l = a + (n−1)d → Sₙ = n/2 · [2a + (n − 1)d].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 example — Sₙ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AP: 5, 8, 11, …; n = 20.</a:t>
            </a:r>
          </a:p>
          <a:p>
            <a:pPr/>
            <a:r>
              <a:rPr sz="2200"/>
              <a:t>a = 5, d = 3.</a:t>
            </a:r>
          </a:p>
          <a:p>
            <a:pPr/>
            <a:r>
              <a:rPr sz="2200"/>
              <a:t>S₂₀ = 20/2 · [10 + 19·3].</a:t>
            </a:r>
          </a:p>
          <a:p>
            <a:pPr/>
            <a:r>
              <a:rPr sz="2200"/>
              <a:t>       = 10 · 67.</a:t>
            </a:r>
          </a:p>
          <a:p>
            <a:pPr/>
            <a:r>
              <a:rPr sz="2200"/>
              <a:t>       = 670.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 example — sum to a known last 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Sum 2 + 4 + 6 + … + 100.</a:t>
            </a:r>
          </a:p>
          <a:p>
            <a:pPr/>
            <a:r>
              <a:rPr sz="2200"/>
              <a:t>AP: a = 2, d = 2, l = 100.</a:t>
            </a:r>
          </a:p>
          <a:p>
            <a:pPr/>
            <a:r>
              <a:rPr sz="2200"/>
              <a:t>100 = 2 + (n − 1)·2 → n = 50.</a:t>
            </a:r>
          </a:p>
          <a:p>
            <a:pPr/>
            <a:r>
              <a:rPr sz="2200"/>
              <a:t>S₅₀ = 50/2·(2 + 100) = 25·102.</a:t>
            </a:r>
          </a:p>
          <a:p>
            <a:pPr/>
            <a:r>
              <a:rPr sz="2200"/>
              <a:t>       = 2550.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Arithmetic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AM of a and b is (a + b)/2.</a:t>
            </a:r>
          </a:p>
          <a:p>
            <a:pPr/>
            <a:r>
              <a:rPr sz="2200"/>
              <a:t>a, AM, b is a 3-term AP.</a:t>
            </a:r>
          </a:p>
          <a:p>
            <a:pPr/>
            <a:r>
              <a:rPr sz="2200"/>
              <a:t>n AMs ⇒ (n + 1) gaps.</a:t>
            </a:r>
          </a:p>
          <a:p>
            <a:pPr/>
            <a:r>
              <a:rPr sz="2200"/>
              <a:t>Common difference d = (b − a)/(n + 1).</a:t>
            </a:r>
          </a:p>
          <a:p>
            <a:pPr/>
            <a:r>
              <a:rPr sz="2200"/>
              <a:t>kth AM: A_k = a + k·d.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 example — insert 4 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Insert 4 AMs between 3 and 23.</a:t>
            </a:r>
          </a:p>
          <a:p>
            <a:pPr/>
            <a:r>
              <a:rPr sz="2200"/>
              <a:t>d = (23 − 3)/(4 + 1) = 4.</a:t>
            </a:r>
          </a:p>
          <a:p>
            <a:pPr/>
            <a:r>
              <a:rPr sz="2200"/>
              <a:t>AMs: 7, 11, 15, 19.</a:t>
            </a:r>
          </a:p>
          <a:p>
            <a:pPr/>
            <a:r>
              <a:rPr sz="2200"/>
              <a:t>Full AP: 3, 7, 11, 15, 19, 23.</a:t>
            </a:r>
          </a:p>
          <a:p>
            <a:pPr/>
            <a:r>
              <a:rPr sz="2200"/>
              <a:t>Check: d = 4 throughout. 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Loans / EMI in equal-step instalments.</a:t>
            </a:r>
          </a:p>
          <a:p>
            <a:pPr/>
            <a:r>
              <a:rPr sz="2200"/>
              <a:t>Salary with fixed annual increment.</a:t>
            </a:r>
          </a:p>
          <a:p>
            <a:pPr/>
            <a:r>
              <a:rPr sz="2200"/>
              <a:t>Stacked rows: bricks, seats, pipes.</a:t>
            </a:r>
          </a:p>
          <a:p>
            <a:pPr/>
            <a:r>
              <a:rPr sz="2200"/>
              <a:t>Savings or production with constant step.</a:t>
            </a:r>
          </a:p>
          <a:p>
            <a:pPr/>
            <a:r>
              <a:rPr sz="2200"/>
              <a:t>Identify (a, d, n); pick aₙ or Sₙ.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Quick activity (5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AP: 8, 13, 18, 23, …</a:t>
            </a:r>
          </a:p>
          <a:p>
            <a:pPr/>
            <a:r>
              <a:rPr sz="2200"/>
              <a:t>1. State a and d.</a:t>
            </a:r>
          </a:p>
          <a:p>
            <a:pPr/>
            <a:r>
              <a:rPr sz="2200"/>
              <a:t>2. Find a₂₀.</a:t>
            </a:r>
          </a:p>
          <a:p>
            <a:pPr/>
            <a:r>
              <a:rPr sz="2200"/>
              <a:t>3. Compute S₁₅.</a:t>
            </a:r>
          </a:p>
          <a:p>
            <a:pPr/>
            <a:r>
              <a:rPr sz="2200"/>
              <a:t>4. Is 88 a term? If yes, which?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d for 10, 7, 4, 1, …?</a:t>
            </a:r>
          </a:p>
          <a:p>
            <a:pPr/>
            <a:r>
              <a:rPr sz="2200"/>
              <a:t>Q2. nth term formula?</a:t>
            </a:r>
          </a:p>
          <a:p>
            <a:pPr/>
            <a:r>
              <a:rPr sz="2200"/>
              <a:t>Q3. Sum 1 + 2 + … + 100?</a:t>
            </a:r>
          </a:p>
          <a:p>
            <a:pPr/>
            <a:r>
              <a:rPr sz="2200"/>
              <a:t>Q4. AM of 17 and 23?</a:t>
            </a:r>
          </a:p>
          <a:p>
            <a:pPr/>
            <a:r>
              <a:rPr sz="2200"/>
              <a:t>Show fingers for the answer.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AP: consecutive differences all equal d.</a:t>
            </a:r>
          </a:p>
          <a:p>
            <a:pPr/>
            <a:r>
              <a:rPr sz="2200"/>
              <a:t>aₙ = a + (n − 1)d — every term in one shot.</a:t>
            </a:r>
          </a:p>
          <a:p>
            <a:pPr/>
            <a:r>
              <a:rPr sz="2200"/>
              <a:t>Sₙ = n/2 · [2a + (n − 1)d] = n/2 · (a + l).</a:t>
            </a:r>
          </a:p>
          <a:p>
            <a:pPr/>
            <a:r>
              <a:rPr sz="2200"/>
              <a:t>AM(a, b) = (a + b)/2; n means use d = (b − a)/(n + 1).</a:t>
            </a:r>
          </a:p>
          <a:p>
            <a:pPr/>
            <a:r>
              <a:rPr sz="2200"/>
              <a:t>Word problems: find (a, d, n); apply aₙ or Sₙ.</a:t>
            </a:r>
          </a:p>
          <a:p>
            <a:pPr/>
            <a:r>
              <a:rPr sz="2200"/>
              <a:t>Distribute the worksheet for further practice.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