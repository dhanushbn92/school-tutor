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In this lesson we tighten our grip on the laws of exponents, extend them to zero, negative and rational exponents, and study radicals — including how to simplify them and rationalise denominators.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objective; ask students which they feel least sure about and weight the lesson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link between counting factors and the laws coming up; every law follows from the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slowly through each law with one numeric example, then put them on the board side-by-side as a 'reference card' for the rest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slip in the last bullet — it's the most common mistake when negatives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students see that the conventions are *derived*, not declared. This builds trust in the rest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Long-derive 16^(3/4) live so students see the bridge between rational exponents and n-th 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card-sort cards from the activity to anchor each example. Spend extra time on the like / unlike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slowly through each reduction. The trick is to hunt for the largest perfect-square factor in each radicand.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identity in bullet 4 — it's the heart of rationalisation and shows why the conjugate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the example, ask 'Why didn't we multiply by 3 − √5 in the numerator only?' to reinforce that we must multiply by the same factor top and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Watch for students who try to multiply by (√7 + √3) only on the numerator — common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show-of-fingers to gauge the room without singling anyone out. 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5 takeaways. Hand out the worksheet and announce the homework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Exponents and Radicals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Exponents and Radicals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Apply the five laws of exponents fluently.</a:t>
            </a:r>
          </a:p>
          <a:p>
            <a:pPr/>
            <a:r>
              <a:rPr sz="2200"/>
              <a:t>Justify and use a^0 = 1 and a^(−n) = 1/a^n.</a:t>
            </a:r>
          </a:p>
          <a:p>
            <a:pPr/>
            <a:r>
              <a:rPr sz="2200"/>
              <a:t>Convert between rational exponents and n-th roots.</a:t>
            </a:r>
          </a:p>
          <a:p>
            <a:pPr/>
            <a:r>
              <a:rPr sz="2200"/>
              <a:t>Recognise surds and classify them as pure / mixed / like / unlike.</a:t>
            </a:r>
          </a:p>
          <a:p>
            <a:pPr/>
            <a:r>
              <a:rPr sz="2200"/>
              <a:t>Simplify radicals and rationalise denominators.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Positive integral exponents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a^n means a × a × ... × a (n factors of a).</a:t>
            </a:r>
          </a:p>
          <a:p>
            <a:pPr/>
            <a:r>
              <a:rPr sz="2200"/>
              <a:t>a is the base; n is the exponent.</a:t>
            </a:r>
          </a:p>
          <a:p>
            <a:pPr/>
            <a:r>
              <a:rPr sz="2200"/>
              <a:t>(−a)^n = a^n if n is even, −a^n if n is odd.</a:t>
            </a:r>
          </a:p>
          <a:p>
            <a:pPr/>
            <a:r>
              <a:rPr sz="2200"/>
              <a:t>0^n = 0 for n ≥ 1; 0^0 is undefined.</a:t>
            </a:r>
          </a:p>
          <a:p>
            <a:pPr/>
            <a:r>
              <a:rPr sz="2200"/>
              <a:t>Notation supports compact arithmetic: 2 × 2 × 2 × 2 = 2^4.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 laws of exponents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Product: a^m × a^n = a^(m+n).</a:t>
            </a:r>
          </a:p>
          <a:p>
            <a:pPr/>
            <a:r>
              <a:rPr sz="2200"/>
              <a:t>Quotient: a^m ÷ a^n = a^(m−n).</a:t>
            </a:r>
          </a:p>
          <a:p>
            <a:pPr/>
            <a:r>
              <a:rPr sz="2200"/>
              <a:t>Power of a power: (a^m)^n = a^(m·n).</a:t>
            </a:r>
          </a:p>
          <a:p>
            <a:pPr/>
            <a:r>
              <a:rPr sz="2200"/>
              <a:t>Power of a product: (ab)^n = a^n × b^n.</a:t>
            </a:r>
          </a:p>
          <a:p>
            <a:pPr/>
            <a:r>
              <a:rPr sz="2200"/>
              <a:t>Power of a quotient: (a/b)^n = a^n / b^n.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simplify 2^7 ÷ 2^3 × 2^(−2)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2^7 ÷ 2^3 = 2^(7−3) = 2^4.</a:t>
            </a:r>
          </a:p>
          <a:p>
            <a:pPr/>
            <a:r>
              <a:rPr sz="2200"/>
              <a:t>2^4 × 2^(−2) = 2^(4 + (−2)) = 2^2.</a:t>
            </a:r>
          </a:p>
          <a:p>
            <a:pPr/>
            <a:r>
              <a:rPr sz="2200"/>
              <a:t>2^2 = 4.</a:t>
            </a:r>
          </a:p>
          <a:p>
            <a:pPr/>
            <a:r>
              <a:rPr sz="2200"/>
              <a:t>Lesson: laws apply uniformly across positive, negative and zero exponents.</a:t>
            </a:r>
          </a:p>
          <a:p>
            <a:pPr/>
            <a:r>
              <a:rPr sz="2200"/>
              <a:t>Common slip: mixing up 2^(−2) with −2^2 (the latter is −4).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a^0 = 1 and a^(−n) = 1/a^n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Apply the product law with one exponent set to 0: a^0 × a^n = a^n → a^0 = 1.</a:t>
            </a:r>
          </a:p>
          <a:p>
            <a:pPr/>
            <a:r>
              <a:rPr sz="2200"/>
              <a:t>Apply with exponents −n and n: a^(−n) × a^n = a^0 = 1 → a^(−n) = 1 / a^n.</a:t>
            </a:r>
          </a:p>
          <a:p>
            <a:pPr/>
            <a:r>
              <a:rPr sz="2200"/>
              <a:t>These are NOT arbitrary — the laws force them.</a:t>
            </a:r>
          </a:p>
          <a:p>
            <a:pPr/>
            <a:r>
              <a:rPr sz="2200"/>
              <a:t>0^0 is left undefined to avoid contradictions.</a:t>
            </a:r>
          </a:p>
          <a:p>
            <a:pPr/>
            <a:r>
              <a:rPr sz="2200"/>
              <a:t>All five laws now extend to any integer exponent.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 exponents and radicals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n√a is the n-th root: the non-negative x with x^n = a (a ≥ 0).</a:t>
            </a:r>
          </a:p>
          <a:p>
            <a:pPr/>
            <a:r>
              <a:rPr sz="2200"/>
              <a:t>n√a = a^(1/n).</a:t>
            </a:r>
          </a:p>
          <a:p>
            <a:pPr/>
            <a:r>
              <a:rPr sz="2200"/>
              <a:t>a^(m/n) = n√(a^m) = (n√a)^m for a &gt; 0.</a:t>
            </a:r>
          </a:p>
          <a:p>
            <a:pPr/>
            <a:r>
              <a:rPr sz="2200"/>
              <a:t>Examples: 8^(1/3) = 2, 16^(3/4) = 8, 9^(−1/2) = 1/3.</a:t>
            </a:r>
          </a:p>
          <a:p>
            <a:pPr/>
            <a:r>
              <a:rPr sz="2200"/>
              <a:t>All five laws extend to rational exponents (positive bases).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Surds —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Surd: a radical n√a where a is rational and n√a is irrational.</a:t>
            </a:r>
          </a:p>
          <a:p>
            <a:pPr/>
            <a:r>
              <a:rPr sz="2200"/>
              <a:t>√4 is rational (= 2), so NOT a surd.</a:t>
            </a:r>
          </a:p>
          <a:p>
            <a:pPr/>
            <a:r>
              <a:rPr sz="2200"/>
              <a:t>√7 is irrational, so √7 IS a surd.</a:t>
            </a:r>
          </a:p>
          <a:p>
            <a:pPr/>
            <a:r>
              <a:rPr sz="2200"/>
              <a:t>Pure surd: coefficient 1 (e.g. √7). Mixed surd: rational coefficient (e.g. 3√2).</a:t>
            </a:r>
          </a:p>
          <a:p>
            <a:pPr/>
            <a:r>
              <a:rPr sz="2200"/>
              <a:t>Like surds: same index AND same radicand (e.g. 5√3 and 7√3).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Simplifying √72 + √50 − √18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√72 = √(36 × 2) = 6√2.</a:t>
            </a:r>
          </a:p>
          <a:p>
            <a:pPr/>
            <a:r>
              <a:rPr sz="2200"/>
              <a:t>√50 = √(25 × 2) = 5√2.</a:t>
            </a:r>
          </a:p>
          <a:p>
            <a:pPr/>
            <a:r>
              <a:rPr sz="2200"/>
              <a:t>√18 = √(9 × 2) = 3√2.</a:t>
            </a:r>
          </a:p>
          <a:p>
            <a:pPr/>
            <a:r>
              <a:rPr sz="2200"/>
              <a:t>Sum: 6√2 + 5√2 − 3√2 = 8√2.</a:t>
            </a:r>
          </a:p>
          <a:p>
            <a:pPr/>
            <a:r>
              <a:rPr sz="2200"/>
              <a:t>All three terms reduce to like surds before combining.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Rationalising denominators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Goal: rewrite a fraction so its denominator is rational.</a:t>
            </a:r>
          </a:p>
          <a:p>
            <a:pPr/>
            <a:r>
              <a:rPr sz="2200"/>
              <a:t>Single √a denominator → multiply by √a/√a.</a:t>
            </a:r>
          </a:p>
          <a:p>
            <a:pPr/>
            <a:r>
              <a:rPr sz="2200"/>
              <a:t>Two-term denominator a + b√c → multiply by conjugate a − b√c.</a:t>
            </a:r>
          </a:p>
          <a:p>
            <a:pPr/>
            <a:r>
              <a:rPr sz="2200"/>
              <a:t>Identity used: (a + b√c)(a − b√c) = a² − b²c (rational).</a:t>
            </a:r>
          </a:p>
          <a:p>
            <a:pPr/>
            <a:r>
              <a:rPr sz="2200"/>
              <a:t>Conjugate of √a + √b is √a − √b (product = a − b).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1 / (3 + √5)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Multiply by conjugate: 1/(3 + √5) × (3 − √5)/(3 − √5).</a:t>
            </a:r>
          </a:p>
          <a:p>
            <a:pPr/>
            <a:r>
              <a:rPr sz="2200"/>
              <a:t>Denominator: (3)² − (√5)² = 9 − 5 = 4.</a:t>
            </a:r>
          </a:p>
          <a:p>
            <a:pPr/>
            <a:r>
              <a:rPr sz="2200"/>
              <a:t>Numerator: 3 − √5.</a:t>
            </a:r>
          </a:p>
          <a:p>
            <a:pPr/>
            <a:r>
              <a:rPr sz="2200"/>
              <a:t>Result: (3 − √5) / 4.</a:t>
            </a:r>
          </a:p>
          <a:p>
            <a:pPr/>
            <a:r>
              <a:rPr sz="2200"/>
              <a:t>New denominator is rational; rationalisation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Simplify (a^3 × a^(−1))^2.</a:t>
            </a:r>
          </a:p>
          <a:p>
            <a:pPr/>
            <a:r>
              <a:rPr sz="2200"/>
              <a:t>2. Evaluate (8/27)^(2/3).</a:t>
            </a:r>
          </a:p>
          <a:p>
            <a:pPr/>
            <a:r>
              <a:rPr sz="2200"/>
              <a:t>3. Simplify √98 + √50.</a:t>
            </a:r>
          </a:p>
          <a:p>
            <a:pPr/>
            <a:r>
              <a:rPr sz="2200"/>
              <a:t>4. Rationalise 1 / (√7 − √3).</a:t>
            </a:r>
          </a:p>
          <a:p>
            <a:pPr/>
            <a:r>
              <a:rPr sz="2200"/>
              <a:t>Compare answers with your bench partner.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What is 5^0?</a:t>
            </a:r>
          </a:p>
          <a:p>
            <a:pPr/>
            <a:r>
              <a:rPr sz="2200"/>
              <a:t>Q2. Express 1 / 3^4 with a single power of 3.</a:t>
            </a:r>
          </a:p>
          <a:p>
            <a:pPr/>
            <a:r>
              <a:rPr sz="2200"/>
              <a:t>Q3. Is 4√16 a surd?</a:t>
            </a:r>
          </a:p>
          <a:p>
            <a:pPr/>
            <a:r>
              <a:rPr sz="2200"/>
              <a:t>Q4. What is the conjugate of 5 − √2?</a:t>
            </a:r>
          </a:p>
          <a:p>
            <a:pPr/>
            <a:r>
              <a:rPr sz="2200"/>
              <a:t>Show your answers on fingers (1 = first option …).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a^n = a × a × ... × a (n factors).</a:t>
            </a:r>
          </a:p>
          <a:p>
            <a:pPr/>
            <a:r>
              <a:rPr sz="2200"/>
              <a:t>a^0 = 1 and a^(−n) = 1/a^n are forced by the product law.</a:t>
            </a:r>
          </a:p>
          <a:p>
            <a:pPr/>
            <a:r>
              <a:rPr sz="2200"/>
              <a:t>a^(m/n) = n√(a^m); the five laws extend to rational exponents.</a:t>
            </a:r>
          </a:p>
          <a:p>
            <a:pPr/>
            <a:r>
              <a:rPr sz="2200"/>
              <a:t>Simplify radicals by pulling out perfect-power factors.</a:t>
            </a:r>
          </a:p>
          <a:p>
            <a:pPr/>
            <a:r>
              <a:rPr sz="2200"/>
              <a:t>Rationalise denominators by multiplying by √a (single term) or the conjugate (two-term).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