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Sums of powers of x with nice coefficients — and the deep link between zeros and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Definitions + non-examples.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by substitution.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for each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 each Vieta 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 of Vieta.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Reverse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the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up the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long-division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Powerful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Polynomials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Mathematics  ·  Polynomials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State the degree of a polynomial and classify it.</a:t>
            </a:r>
          </a:p>
          <a:p>
            <a:pPr/>
            <a:r>
              <a:rPr sz="2200"/>
              <a:t>Define a zero and verify by substitution.</a:t>
            </a:r>
          </a:p>
          <a:p>
            <a:pPr/>
            <a:r>
              <a:rPr sz="2200"/>
              <a:t>Use α + β = −b/a, αβ = c/a for quadratics.</a:t>
            </a:r>
          </a:p>
          <a:p>
            <a:pPr/>
            <a:r>
              <a:rPr sz="2200"/>
              <a:t>Build a quadratic from its zeros.</a:t>
            </a:r>
          </a:p>
          <a:p>
            <a:pPr/>
            <a:r>
              <a:rPr sz="2200"/>
              <a:t>Apply Vieta-like relations for cubics.</a:t>
            </a:r>
          </a:p>
          <a:p>
            <a:pPr/>
            <a:r>
              <a:rPr sz="2200"/>
              <a:t>Divide one polynomial by another and verify p = g·q + 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polynomial?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p(x) = a_n x^n + … + a_1 x + a_0 with real coefficients.</a:t>
            </a:r>
          </a:p>
          <a:p>
            <a:pPr/>
            <a:r>
              <a:rPr sz="2200"/>
              <a:t>Degree = highest power of x with non-zero coefficient.</a:t>
            </a:r>
          </a:p>
          <a:p>
            <a:pPr/>
            <a:r>
              <a:rPr sz="2200"/>
              <a:t>Constant (deg 0): 7. Linear (deg 1): 2x + 1.</a:t>
            </a:r>
          </a:p>
          <a:p>
            <a:pPr/>
            <a:r>
              <a:rPr sz="2200"/>
              <a:t>Quadratic (deg 2): x² − 5x + 6. Cubic (deg 3): x³ − 1.</a:t>
            </a:r>
          </a:p>
          <a:p>
            <a:pPr/>
            <a:r>
              <a:rPr sz="2200"/>
              <a:t>1/x, √x, x^(1/2) are NOT polynomials.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Zeros (roots) of a polynomial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zero is a value c with p(c) = 0.</a:t>
            </a:r>
          </a:p>
          <a:p>
            <a:pPr/>
            <a:r>
              <a:rPr sz="2200"/>
              <a:t>Geometrically: x-intercept of y = p(x).</a:t>
            </a:r>
          </a:p>
          <a:p>
            <a:pPr/>
            <a:r>
              <a:rPr sz="2200"/>
              <a:t>Linear ax + b: exactly one zero, x = −b/a.</a:t>
            </a:r>
          </a:p>
          <a:p>
            <a:pPr/>
            <a:r>
              <a:rPr sz="2200"/>
              <a:t>Quadratic ax² + bx + c: 0, 1 or 2 real zeros.</a:t>
            </a:r>
          </a:p>
          <a:p>
            <a:pPr/>
            <a:r>
              <a:rPr sz="2200"/>
              <a:t>A polynomial of degree n has AT MOST n real zeros.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Discriminant and the parabola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For ax² + bx + c, discriminant D = b² − 4ac.</a:t>
            </a:r>
          </a:p>
          <a:p>
            <a:pPr/>
            <a:r>
              <a:rPr sz="2200"/>
              <a:t>D &gt; 0 → two distinct real zeros (parabola crosses x-axis twice).</a:t>
            </a:r>
          </a:p>
          <a:p>
            <a:pPr/>
            <a:r>
              <a:rPr sz="2200"/>
              <a:t>D = 0 → one repeated zero (parabola TOUCHES x-axis).</a:t>
            </a:r>
          </a:p>
          <a:p>
            <a:pPr/>
            <a:r>
              <a:rPr sz="2200"/>
              <a:t>D &lt; 0 → no real zeros (parabola lies entirely above or below).</a:t>
            </a:r>
          </a:p>
          <a:p>
            <a:pPr/>
            <a:r>
              <a:rPr sz="2200"/>
              <a:t>Sketch each case quickly.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Vieta — quadratic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For ax² + bx + c with zeros α, β:</a:t>
            </a:r>
          </a:p>
          <a:p>
            <a:pPr/>
            <a:r>
              <a:rPr sz="2200"/>
              <a:t>α + β = −b/a (sum).</a:t>
            </a:r>
          </a:p>
          <a:p>
            <a:pPr/>
            <a:r>
              <a:rPr sz="2200"/>
              <a:t>αβ = c/a (product).</a:t>
            </a:r>
          </a:p>
          <a:p>
            <a:pPr/>
            <a:r>
              <a:rPr sz="2200"/>
              <a:t>Useful identities: α² + β² = (α+β)² − 2αβ.</a:t>
            </a:r>
          </a:p>
          <a:p>
            <a:pPr/>
            <a:r>
              <a:rPr sz="2200"/>
              <a:t>1/α + 1/β = (α+β)/(αβ).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Sum &amp; product — x² − 5x + 6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= 1, b = −5, c = 6.</a:t>
            </a:r>
          </a:p>
          <a:p>
            <a:pPr/>
            <a:r>
              <a:rPr sz="2200"/>
              <a:t>α + β = −b/a = 5.</a:t>
            </a:r>
          </a:p>
          <a:p>
            <a:pPr/>
            <a:r>
              <a:rPr sz="2200"/>
              <a:t>αβ = c/a = 6.</a:t>
            </a:r>
          </a:p>
          <a:p>
            <a:pPr/>
            <a:r>
              <a:rPr sz="2200"/>
              <a:t>Factorise: (x − 2)(x − 3). Zeros 2, 3.</a:t>
            </a:r>
          </a:p>
          <a:p>
            <a:pPr/>
            <a:r>
              <a:rPr sz="2200"/>
              <a:t>Check: 2 + 3 = 5 ✓, 2 · 3 = 6 ✓.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Symmetric functions of zeros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Zeros of x² − 7x + 10 are α, β.</a:t>
            </a:r>
          </a:p>
          <a:p>
            <a:pPr/>
            <a:r>
              <a:rPr sz="2200"/>
              <a:t>(i) α + β = 7. (ii) αβ = 10.</a:t>
            </a:r>
          </a:p>
          <a:p>
            <a:pPr/>
            <a:r>
              <a:rPr sz="2200"/>
              <a:t>(iii) α² + β² = 7² − 2·10 = 29.</a:t>
            </a:r>
          </a:p>
          <a:p>
            <a:pPr/>
            <a:r>
              <a:rPr sz="2200"/>
              <a:t>(iv) 1/α + 1/β = (α+β)/(αβ) = 7/10.</a:t>
            </a:r>
          </a:p>
          <a:p>
            <a:pPr/>
            <a:r>
              <a:rPr sz="2200"/>
              <a:t>Without finding α, β individually.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a quadratic from its zeros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Given sum S and product P, a quadratic with those zeros is x² − S·x + P.</a:t>
            </a:r>
          </a:p>
          <a:p>
            <a:pPr/>
            <a:r>
              <a:rPr sz="2200"/>
              <a:t>Zeros 3 and −2: S = 1, P = −6 → x² − x − 6.</a:t>
            </a:r>
          </a:p>
          <a:p>
            <a:pPr/>
            <a:r>
              <a:rPr sz="2200"/>
              <a:t>Zeros 3 + √2 and 3 − √2: S = 6, P = 7 → x² − 6x + 7.</a:t>
            </a:r>
          </a:p>
          <a:p>
            <a:pPr/>
            <a:r>
              <a:rPr sz="2200"/>
              <a:t>Surd zeros come in conjugate pairs (rational coefficients).</a:t>
            </a:r>
          </a:p>
          <a:p>
            <a:pPr/>
            <a:r>
              <a:rPr sz="2200"/>
              <a:t>Multiply by any non-zero constant for an equivalent polynomial.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Vieta — cubic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For ax³ + bx² + cx + d with zeros α, β, γ:</a:t>
            </a:r>
          </a:p>
          <a:p>
            <a:pPr/>
            <a:r>
              <a:rPr sz="2200"/>
              <a:t>α + β + γ = −b/a.</a:t>
            </a:r>
          </a:p>
          <a:p>
            <a:pPr/>
            <a:r>
              <a:rPr sz="2200"/>
              <a:t>αβ + βγ + γα = c/a.</a:t>
            </a:r>
          </a:p>
          <a:p>
            <a:pPr/>
            <a:r>
              <a:rPr sz="2200"/>
              <a:t>αβγ = −d/a.</a:t>
            </a:r>
          </a:p>
          <a:p>
            <a:pPr/>
            <a:r>
              <a:rPr sz="2200"/>
              <a:t>Pattern: alternating signs, ratios with leading coefficient.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Cubic Vieta — x³ + 2x² − 5x − 6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= 1, b = 2, c = −5, d = −6.</a:t>
            </a:r>
          </a:p>
          <a:p>
            <a:pPr/>
            <a:r>
              <a:rPr sz="2200"/>
              <a:t>α + β + γ = −b/a = −2.</a:t>
            </a:r>
          </a:p>
          <a:p>
            <a:pPr/>
            <a:r>
              <a:rPr sz="2200"/>
              <a:t>αβ + βγ + γα = c/a = −5.</a:t>
            </a:r>
          </a:p>
          <a:p>
            <a:pPr/>
            <a:r>
              <a:rPr sz="2200"/>
              <a:t>αβγ = −d/a = 6.</a:t>
            </a:r>
          </a:p>
          <a:p>
            <a:pPr/>
            <a:r>
              <a:rPr sz="2200"/>
              <a:t>(Zeros happen to be 2, −1, −3 — verify: sum = −2 ✓, product = 6 ✓.)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Polynomial long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Given p(x), g(x) with deg g ≤ deg p, find q(x), r(x) with p = g·q + r.</a:t>
            </a:r>
          </a:p>
          <a:p>
            <a:pPr/>
            <a:r>
              <a:rPr sz="2200"/>
              <a:t>deg r &lt; deg g (or r = 0).</a:t>
            </a:r>
          </a:p>
          <a:p>
            <a:pPr/>
            <a:r>
              <a:rPr sz="2200"/>
              <a:t>Mirrors integer long division.</a:t>
            </a:r>
          </a:p>
          <a:p>
            <a:pPr/>
            <a:r>
              <a:rPr sz="2200"/>
              <a:t>Stop when the running remainder has degree &lt; deg g.</a:t>
            </a:r>
          </a:p>
          <a:p>
            <a:pPr/>
            <a:r>
              <a:rPr sz="2200"/>
              <a:t>Quotient + remainder are unique.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Divide 3x³ + x² + 2x + 5 by x² + 2x + 1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3x³ ÷ x² = 3x. 3x(x²+2x+1) = 3x³+6x²+3x. Subtract: −5x²−x+5.</a:t>
            </a:r>
          </a:p>
          <a:p>
            <a:pPr/>
            <a:r>
              <a:rPr sz="2200"/>
              <a:t>−5x² ÷ x² = −5. −5(x²+2x+1) = −5x²−10x−5. Subtract: 9x+10.</a:t>
            </a:r>
          </a:p>
          <a:p>
            <a:pPr/>
            <a:r>
              <a:rPr sz="2200"/>
              <a:t>Stop (degree 1 &lt; 2).</a:t>
            </a:r>
          </a:p>
          <a:p>
            <a:pPr/>
            <a:r>
              <a:rPr sz="2200"/>
              <a:t>Quotient = 3x − 5; remainder = 9x + 10.</a:t>
            </a:r>
          </a:p>
          <a:p>
            <a:pPr/>
            <a:r>
              <a:rPr sz="2200"/>
              <a:t>Verify: (x²+2x+1)(3x−5) + (9x+10) = 3x³+x²+2x+5 ✓.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Find a missing zero by division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x³ − 4x² + x + 6 has 2 and −1 as zeros.</a:t>
            </a:r>
          </a:p>
          <a:p>
            <a:pPr/>
            <a:r>
              <a:rPr sz="2200"/>
              <a:t>(x − 2)(x + 1) = x² − x − 2.</a:t>
            </a:r>
          </a:p>
          <a:p>
            <a:pPr/>
            <a:r>
              <a:rPr sz="2200"/>
              <a:t>Divide: x³−4x²+x+6 = (x²−x−2)(x − 3) + 0.</a:t>
            </a:r>
          </a:p>
          <a:p>
            <a:pPr/>
            <a:r>
              <a:rPr sz="2200"/>
              <a:t>Quotient (x − 3) → third zero is 3.</a:t>
            </a:r>
          </a:p>
          <a:p>
            <a:pPr/>
            <a:r>
              <a:rPr sz="2200"/>
              <a:t>Use known zeros + division to extract the rest.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Sum and product of zeros of 2x² − 7x + 3.</a:t>
            </a:r>
          </a:p>
          <a:p>
            <a:pPr/>
            <a:r>
              <a:rPr sz="2200"/>
              <a:t>2. Build a quadratic with zeros 4 and −1.</a:t>
            </a:r>
          </a:p>
          <a:p>
            <a:pPr/>
            <a:r>
              <a:rPr sz="2200"/>
              <a:t>3. α² + β² for x² − 6x + 4.</a:t>
            </a:r>
          </a:p>
          <a:p>
            <a:pPr/>
            <a:r>
              <a:rPr sz="2200"/>
              <a:t>4. Discriminant of x² − 4x + 4 — what does the graph look like?</a:t>
            </a:r>
          </a:p>
          <a:p>
            <a:pPr/>
            <a:r>
              <a:rPr sz="2200"/>
              <a:t>5. Divide x³ − 1 by x − 1; state quotient and remainder.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Degree of 7? Of x⁵ − 1?</a:t>
            </a:r>
          </a:p>
          <a:p>
            <a:pPr/>
            <a:r>
              <a:rPr sz="2200"/>
              <a:t>Q2. For ax² + bx + c, sum of zeros = ?</a:t>
            </a:r>
          </a:p>
          <a:p>
            <a:pPr/>
            <a:r>
              <a:rPr sz="2200"/>
              <a:t>Q3. D &lt; 0 → number of real zeros?</a:t>
            </a:r>
          </a:p>
          <a:p>
            <a:pPr/>
            <a:r>
              <a:rPr sz="2200"/>
              <a:t>Q4. After dividing p by g, what bounds the degree of the remainder?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Polynomial: a_n x^n + … + a_0; degree = highest power.</a:t>
            </a:r>
          </a:p>
          <a:p>
            <a:pPr/>
            <a:r>
              <a:rPr sz="2200"/>
              <a:t>Zero: p(c) = 0 ↔ x − c is a factor; geometric x-intercept.</a:t>
            </a:r>
          </a:p>
          <a:p>
            <a:pPr/>
            <a:r>
              <a:rPr sz="2200"/>
              <a:t>Discriminant b² − 4ac classifies the parabola.</a:t>
            </a:r>
          </a:p>
          <a:p>
            <a:pPr/>
            <a:r>
              <a:rPr sz="2200"/>
              <a:t>Quadratic Vieta: α+β = −b/a, αβ = c/a.</a:t>
            </a:r>
          </a:p>
          <a:p>
            <a:pPr/>
            <a:r>
              <a:rPr sz="2200"/>
              <a:t>Cubic Vieta: −b/a, c/a, −d/a (sum, sum-of-pairs, product).</a:t>
            </a:r>
          </a:p>
          <a:p>
            <a:pPr/>
            <a:r>
              <a:rPr sz="2200"/>
              <a:t>Division algorithm: p = g·q + r with deg r &lt; deg g — verify after dividing.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